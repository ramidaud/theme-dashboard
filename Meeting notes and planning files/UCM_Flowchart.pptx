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
  </p:notesMasterIdLst>
  <p:sldIdLst>
    <p:sldId id="256" r:id="rId2"/>
    <p:sldId id="257" r:id="rId3"/>
    <p:sldId id="258" r:id="rId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523EB48-E4C6-4191-8332-1680CFE00F39}" v="145" dt="2026-04-09T15:00:41.33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11" Type="http://schemas.microsoft.com/office/2015/10/relationships/revisionInfo" Target="revisionInfo.xml"/><Relationship Id="rId5" Type="http://schemas.openxmlformats.org/officeDocument/2006/relationships/notesMaster" Target="notesMasters/notesMaster1.xml"/><Relationship Id="rId10"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Graw, Katlyn" userId="dcb1850c-a648-46e9-ae9d-b758333e6a7b" providerId="ADAL" clId="{2364B71A-7416-40B8-B0FF-4EDFEBD64EF9}"/>
    <pc:docChg chg="undo redo custSel addSld delSld modSld">
      <pc:chgData name="DeGraw, Katlyn" userId="dcb1850c-a648-46e9-ae9d-b758333e6a7b" providerId="ADAL" clId="{2364B71A-7416-40B8-B0FF-4EDFEBD64EF9}" dt="2026-04-09T15:00:41.331" v="172" actId="14100"/>
      <pc:docMkLst>
        <pc:docMk/>
      </pc:docMkLst>
      <pc:sldChg chg="modSp mod">
        <pc:chgData name="DeGraw, Katlyn" userId="dcb1850c-a648-46e9-ae9d-b758333e6a7b" providerId="ADAL" clId="{2364B71A-7416-40B8-B0FF-4EDFEBD64EF9}" dt="2026-04-09T15:00:41.331" v="172" actId="14100"/>
        <pc:sldMkLst>
          <pc:docMk/>
          <pc:sldMk cId="0" sldId="256"/>
        </pc:sldMkLst>
        <pc:spChg chg="mod">
          <ac:chgData name="DeGraw, Katlyn" userId="dcb1850c-a648-46e9-ae9d-b758333e6a7b" providerId="ADAL" clId="{2364B71A-7416-40B8-B0FF-4EDFEBD64EF9}" dt="2026-04-09T15:00:39.307" v="171" actId="14100"/>
          <ac:spMkLst>
            <pc:docMk/>
            <pc:sldMk cId="0" sldId="256"/>
            <ac:spMk id="28" creationId="{00000000-0000-0000-0000-000000000000}"/>
          </ac:spMkLst>
        </pc:spChg>
        <pc:spChg chg="mod">
          <ac:chgData name="DeGraw, Katlyn" userId="dcb1850c-a648-46e9-ae9d-b758333e6a7b" providerId="ADAL" clId="{2364B71A-7416-40B8-B0FF-4EDFEBD64EF9}" dt="2026-04-09T15:00:20.707" v="167" actId="20578"/>
          <ac:spMkLst>
            <pc:docMk/>
            <pc:sldMk cId="0" sldId="256"/>
            <ac:spMk id="45" creationId="{00000000-0000-0000-0000-000000000000}"/>
          </ac:spMkLst>
        </pc:spChg>
        <pc:grpChg chg="mod">
          <ac:chgData name="DeGraw, Katlyn" userId="dcb1850c-a648-46e9-ae9d-b758333e6a7b" providerId="ADAL" clId="{2364B71A-7416-40B8-B0FF-4EDFEBD64EF9}" dt="2026-04-09T15:00:41.331" v="172" actId="14100"/>
          <ac:grpSpMkLst>
            <pc:docMk/>
            <pc:sldMk cId="0" sldId="256"/>
            <ac:grpSpMk id="88" creationId="{040AEF2F-4DBC-3A93-E2CC-D7B33597FB19}"/>
          </ac:grpSpMkLst>
        </pc:grpChg>
      </pc:sldChg>
      <pc:sldChg chg="addSp modSp new mod">
        <pc:chgData name="DeGraw, Katlyn" userId="dcb1850c-a648-46e9-ae9d-b758333e6a7b" providerId="ADAL" clId="{2364B71A-7416-40B8-B0FF-4EDFEBD64EF9}" dt="2026-04-09T14:53:01.954" v="135" actId="6549"/>
        <pc:sldMkLst>
          <pc:docMk/>
          <pc:sldMk cId="3572273727" sldId="257"/>
        </pc:sldMkLst>
        <pc:spChg chg="add mod">
          <ac:chgData name="DeGraw, Katlyn" userId="dcb1850c-a648-46e9-ae9d-b758333e6a7b" providerId="ADAL" clId="{2364B71A-7416-40B8-B0FF-4EDFEBD64EF9}" dt="2026-04-09T14:53:01.954" v="135" actId="6549"/>
          <ac:spMkLst>
            <pc:docMk/>
            <pc:sldMk cId="3572273727" sldId="257"/>
            <ac:spMk id="2" creationId="{017AF411-FBC9-BBED-31D1-3AE22222CBB9}"/>
          </ac:spMkLst>
        </pc:spChg>
        <pc:spChg chg="add mod">
          <ac:chgData name="DeGraw, Katlyn" userId="dcb1850c-a648-46e9-ae9d-b758333e6a7b" providerId="ADAL" clId="{2364B71A-7416-40B8-B0FF-4EDFEBD64EF9}" dt="2026-04-09T14:32:41.385" v="76" actId="403"/>
          <ac:spMkLst>
            <pc:docMk/>
            <pc:sldMk cId="3572273727" sldId="257"/>
            <ac:spMk id="3" creationId="{2F46ABC8-7F4E-6326-DC33-931D1C4414A5}"/>
          </ac:spMkLst>
        </pc:spChg>
        <pc:spChg chg="add mod">
          <ac:chgData name="DeGraw, Katlyn" userId="dcb1850c-a648-46e9-ae9d-b758333e6a7b" providerId="ADAL" clId="{2364B71A-7416-40B8-B0FF-4EDFEBD64EF9}" dt="2026-04-09T14:32:45.885" v="77" actId="1076"/>
          <ac:spMkLst>
            <pc:docMk/>
            <pc:sldMk cId="3572273727" sldId="257"/>
            <ac:spMk id="4" creationId="{945F1E88-4322-1601-76D1-968683AEE9C2}"/>
          </ac:spMkLst>
        </pc:spChg>
        <pc:spChg chg="add mod">
          <ac:chgData name="DeGraw, Katlyn" userId="dcb1850c-a648-46e9-ae9d-b758333e6a7b" providerId="ADAL" clId="{2364B71A-7416-40B8-B0FF-4EDFEBD64EF9}" dt="2026-04-09T14:32:59.774" v="80"/>
          <ac:spMkLst>
            <pc:docMk/>
            <pc:sldMk cId="3572273727" sldId="257"/>
            <ac:spMk id="5" creationId="{B0989659-2756-0342-9829-3943C2E47DBD}"/>
          </ac:spMkLst>
        </pc:spChg>
        <pc:spChg chg="add mod">
          <ac:chgData name="DeGraw, Katlyn" userId="dcb1850c-a648-46e9-ae9d-b758333e6a7b" providerId="ADAL" clId="{2364B71A-7416-40B8-B0FF-4EDFEBD64EF9}" dt="2026-04-09T14:33:12.973" v="83"/>
          <ac:spMkLst>
            <pc:docMk/>
            <pc:sldMk cId="3572273727" sldId="257"/>
            <ac:spMk id="6" creationId="{9FCDB340-1E52-A40F-0DC7-DE9EDA9914B5}"/>
          </ac:spMkLst>
        </pc:spChg>
        <pc:spChg chg="add mod">
          <ac:chgData name="DeGraw, Katlyn" userId="dcb1850c-a648-46e9-ae9d-b758333e6a7b" providerId="ADAL" clId="{2364B71A-7416-40B8-B0FF-4EDFEBD64EF9}" dt="2026-04-09T14:33:28.288" v="86"/>
          <ac:spMkLst>
            <pc:docMk/>
            <pc:sldMk cId="3572273727" sldId="257"/>
            <ac:spMk id="7" creationId="{0ED6838B-A4C4-5CE2-23D6-3927424BD370}"/>
          </ac:spMkLst>
        </pc:spChg>
        <pc:spChg chg="add mod">
          <ac:chgData name="DeGraw, Katlyn" userId="dcb1850c-a648-46e9-ae9d-b758333e6a7b" providerId="ADAL" clId="{2364B71A-7416-40B8-B0FF-4EDFEBD64EF9}" dt="2026-04-09T14:41:08.985" v="134" actId="20577"/>
          <ac:spMkLst>
            <pc:docMk/>
            <pc:sldMk cId="3572273727" sldId="257"/>
            <ac:spMk id="8" creationId="{A2649388-5FEA-A80D-1A74-E0C40BD7FADA}"/>
          </ac:spMkLst>
        </pc:spChg>
      </pc:sldChg>
      <pc:sldChg chg="add del">
        <pc:chgData name="DeGraw, Katlyn" userId="dcb1850c-a648-46e9-ae9d-b758333e6a7b" providerId="ADAL" clId="{2364B71A-7416-40B8-B0FF-4EDFEBD64EF9}" dt="2026-04-09T14:34:43.100" v="101" actId="2696"/>
        <pc:sldMkLst>
          <pc:docMk/>
          <pc:sldMk cId="2860043982" sldId="258"/>
        </pc:sldMkLst>
      </pc:sldChg>
      <pc:sldChg chg="delSp add mod">
        <pc:chgData name="DeGraw, Katlyn" userId="dcb1850c-a648-46e9-ae9d-b758333e6a7b" providerId="ADAL" clId="{2364B71A-7416-40B8-B0FF-4EDFEBD64EF9}" dt="2026-04-09T14:56:12.934" v="139" actId="478"/>
        <pc:sldMkLst>
          <pc:docMk/>
          <pc:sldMk cId="3966891490" sldId="258"/>
        </pc:sldMkLst>
        <pc:spChg chg="del">
          <ac:chgData name="DeGraw, Katlyn" userId="dcb1850c-a648-46e9-ae9d-b758333e6a7b" providerId="ADAL" clId="{2364B71A-7416-40B8-B0FF-4EDFEBD64EF9}" dt="2026-04-09T14:56:12.934" v="139" actId="478"/>
          <ac:spMkLst>
            <pc:docMk/>
            <pc:sldMk cId="3966891490" sldId="258"/>
            <ac:spMk id="3" creationId="{CAAFBD05-9BD8-B3D6-67AD-46A40BD51F9B}"/>
          </ac:spMkLst>
        </pc:spChg>
        <pc:spChg chg="del">
          <ac:chgData name="DeGraw, Katlyn" userId="dcb1850c-a648-46e9-ae9d-b758333e6a7b" providerId="ADAL" clId="{2364B71A-7416-40B8-B0FF-4EDFEBD64EF9}" dt="2026-04-09T14:56:11.389" v="138" actId="478"/>
          <ac:spMkLst>
            <pc:docMk/>
            <pc:sldMk cId="3966891490" sldId="258"/>
            <ac:spMk id="4" creationId="{FD523CDB-BC6C-B6A3-62E0-F2C3B730D3A7}"/>
          </ac:spMkLst>
        </pc:spChg>
        <pc:spChg chg="del">
          <ac:chgData name="DeGraw, Katlyn" userId="dcb1850c-a648-46e9-ae9d-b758333e6a7b" providerId="ADAL" clId="{2364B71A-7416-40B8-B0FF-4EDFEBD64EF9}" dt="2026-04-09T14:56:11.389" v="138" actId="478"/>
          <ac:spMkLst>
            <pc:docMk/>
            <pc:sldMk cId="3966891490" sldId="258"/>
            <ac:spMk id="5" creationId="{BFC1A77E-6873-FEC0-C005-E7F9A4B6F77C}"/>
          </ac:spMkLst>
        </pc:spChg>
        <pc:spChg chg="del">
          <ac:chgData name="DeGraw, Katlyn" userId="dcb1850c-a648-46e9-ae9d-b758333e6a7b" providerId="ADAL" clId="{2364B71A-7416-40B8-B0FF-4EDFEBD64EF9}" dt="2026-04-09T14:56:11.389" v="138" actId="478"/>
          <ac:spMkLst>
            <pc:docMk/>
            <pc:sldMk cId="3966891490" sldId="258"/>
            <ac:spMk id="6" creationId="{1C2038AB-EF53-50A0-1283-6B95437F54B1}"/>
          </ac:spMkLst>
        </pc:spChg>
        <pc:spChg chg="del">
          <ac:chgData name="DeGraw, Katlyn" userId="dcb1850c-a648-46e9-ae9d-b758333e6a7b" providerId="ADAL" clId="{2364B71A-7416-40B8-B0FF-4EDFEBD64EF9}" dt="2026-04-09T14:56:11.389" v="138" actId="478"/>
          <ac:spMkLst>
            <pc:docMk/>
            <pc:sldMk cId="3966891490" sldId="258"/>
            <ac:spMk id="7" creationId="{C1FB3C1B-2170-CE71-029C-E8DAC7C30908}"/>
          </ac:spMkLst>
        </pc:spChg>
        <pc:spChg chg="del">
          <ac:chgData name="DeGraw, Katlyn" userId="dcb1850c-a648-46e9-ae9d-b758333e6a7b" providerId="ADAL" clId="{2364B71A-7416-40B8-B0FF-4EDFEBD64EF9}" dt="2026-04-09T14:53:10.669" v="137" actId="478"/>
          <ac:spMkLst>
            <pc:docMk/>
            <pc:sldMk cId="3966891490" sldId="258"/>
            <ac:spMk id="8" creationId="{8A80EE85-1CDB-ECEF-D2B2-E3A272AC52FE}"/>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98162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12161520" cy="457200"/>
          </a:xfrm>
          <a:prstGeom prst="rect">
            <a:avLst/>
          </a:prstGeom>
          <a:solidFill>
            <a:srgbClr val="2C3E50"/>
          </a:solidFill>
          <a:ln w="12700">
            <a:solidFill>
              <a:srgbClr val="2C3E50"/>
            </a:solidFill>
            <a:prstDash val="solid"/>
          </a:ln>
        </p:spPr>
        <p:txBody>
          <a:bodyPr/>
          <a:lstStyle/>
          <a:p>
            <a:endParaRPr lang="en-US"/>
          </a:p>
        </p:txBody>
      </p:sp>
      <p:sp>
        <p:nvSpPr>
          <p:cNvPr id="3" name="Text 1"/>
          <p:cNvSpPr/>
          <p:nvPr/>
        </p:nvSpPr>
        <p:spPr>
          <a:xfrm>
            <a:off x="274320" y="0"/>
            <a:ext cx="6400800" cy="457200"/>
          </a:xfrm>
          <a:prstGeom prst="rect">
            <a:avLst/>
          </a:prstGeom>
          <a:noFill/>
          <a:ln/>
        </p:spPr>
        <p:txBody>
          <a:bodyPr wrap="square" lIns="0" tIns="0" rIns="0" bIns="0" rtlCol="0" anchor="ctr"/>
          <a:lstStyle/>
          <a:p>
            <a:pPr marL="0" indent="0">
              <a:buNone/>
            </a:pPr>
            <a:r>
              <a:rPr lang="en-US" sz="1600" b="1">
                <a:solidFill>
                  <a:srgbClr val="FFFFFF"/>
                </a:solidFill>
              </a:rPr>
              <a:t>UCM Content Model</a:t>
            </a:r>
            <a:endParaRPr lang="en-US" sz="1600"/>
          </a:p>
        </p:txBody>
      </p:sp>
      <p:sp>
        <p:nvSpPr>
          <p:cNvPr id="5" name="Shape 3"/>
          <p:cNvSpPr/>
          <p:nvPr/>
        </p:nvSpPr>
        <p:spPr>
          <a:xfrm>
            <a:off x="182880" y="530352"/>
            <a:ext cx="1371600" cy="201168"/>
          </a:xfrm>
          <a:prstGeom prst="rect">
            <a:avLst/>
          </a:prstGeom>
          <a:solidFill>
            <a:srgbClr val="1A5276"/>
          </a:solidFill>
          <a:ln w="12700">
            <a:solidFill>
              <a:srgbClr val="1A5276"/>
            </a:solidFill>
            <a:prstDash val="solid"/>
          </a:ln>
        </p:spPr>
        <p:txBody>
          <a:bodyPr/>
          <a:lstStyle/>
          <a:p>
            <a:endParaRPr lang="en-US"/>
          </a:p>
        </p:txBody>
      </p:sp>
      <p:sp>
        <p:nvSpPr>
          <p:cNvPr id="6" name="Text 4"/>
          <p:cNvSpPr/>
          <p:nvPr/>
        </p:nvSpPr>
        <p:spPr>
          <a:xfrm>
            <a:off x="182880" y="530352"/>
            <a:ext cx="1371600" cy="201168"/>
          </a:xfrm>
          <a:prstGeom prst="rect">
            <a:avLst/>
          </a:prstGeom>
          <a:noFill/>
          <a:ln/>
        </p:spPr>
        <p:txBody>
          <a:bodyPr wrap="square" lIns="0" tIns="0" rIns="0" bIns="0" rtlCol="0" anchor="ctr"/>
          <a:lstStyle/>
          <a:p>
            <a:pPr marL="0" indent="0" algn="ctr">
              <a:buNone/>
            </a:pPr>
            <a:r>
              <a:rPr lang="en-US" sz="750" b="1" kern="0" spc="100">
                <a:solidFill>
                  <a:srgbClr val="FFFFFF"/>
                </a:solidFill>
              </a:rPr>
              <a:t>STRATEGIC CONTENT</a:t>
            </a:r>
            <a:endParaRPr lang="en-US" sz="750"/>
          </a:p>
        </p:txBody>
      </p:sp>
      <p:sp>
        <p:nvSpPr>
          <p:cNvPr id="7" name="Shape 5"/>
          <p:cNvSpPr/>
          <p:nvPr/>
        </p:nvSpPr>
        <p:spPr>
          <a:xfrm>
            <a:off x="1920240" y="530352"/>
            <a:ext cx="1371600" cy="201168"/>
          </a:xfrm>
          <a:prstGeom prst="rect">
            <a:avLst/>
          </a:prstGeom>
          <a:solidFill>
            <a:srgbClr val="922B21"/>
          </a:solidFill>
          <a:ln w="12700">
            <a:solidFill>
              <a:srgbClr val="922B21"/>
            </a:solidFill>
            <a:prstDash val="solid"/>
          </a:ln>
        </p:spPr>
        <p:txBody>
          <a:bodyPr/>
          <a:lstStyle/>
          <a:p>
            <a:endParaRPr lang="en-US"/>
          </a:p>
        </p:txBody>
      </p:sp>
      <p:sp>
        <p:nvSpPr>
          <p:cNvPr id="8" name="Text 6"/>
          <p:cNvSpPr/>
          <p:nvPr/>
        </p:nvSpPr>
        <p:spPr>
          <a:xfrm>
            <a:off x="1920240" y="530352"/>
            <a:ext cx="1371600" cy="201168"/>
          </a:xfrm>
          <a:prstGeom prst="rect">
            <a:avLst/>
          </a:prstGeom>
          <a:noFill/>
          <a:ln/>
        </p:spPr>
        <p:txBody>
          <a:bodyPr wrap="square" lIns="0" tIns="0" rIns="0" bIns="0" rtlCol="0" anchor="ctr"/>
          <a:lstStyle/>
          <a:p>
            <a:pPr marL="0" indent="0" algn="ctr">
              <a:buNone/>
            </a:pPr>
            <a:r>
              <a:rPr lang="en-US" sz="750" b="1" kern="0" spc="100">
                <a:solidFill>
                  <a:srgbClr val="FFFFFF"/>
                </a:solidFill>
              </a:rPr>
              <a:t>DAILY NEWS</a:t>
            </a:r>
            <a:endParaRPr lang="en-US" sz="750"/>
          </a:p>
        </p:txBody>
      </p:sp>
      <p:sp>
        <p:nvSpPr>
          <p:cNvPr id="9" name="Shape 7"/>
          <p:cNvSpPr/>
          <p:nvPr/>
        </p:nvSpPr>
        <p:spPr>
          <a:xfrm>
            <a:off x="3657600" y="530352"/>
            <a:ext cx="1371600" cy="201168"/>
          </a:xfrm>
          <a:prstGeom prst="rect">
            <a:avLst/>
          </a:prstGeom>
          <a:solidFill>
            <a:srgbClr val="0E6655"/>
          </a:solidFill>
          <a:ln w="12700">
            <a:solidFill>
              <a:srgbClr val="0E6655"/>
            </a:solidFill>
            <a:prstDash val="solid"/>
          </a:ln>
        </p:spPr>
        <p:txBody>
          <a:bodyPr/>
          <a:lstStyle/>
          <a:p>
            <a:endParaRPr lang="en-US"/>
          </a:p>
        </p:txBody>
      </p:sp>
      <p:sp>
        <p:nvSpPr>
          <p:cNvPr id="10" name="Text 8"/>
          <p:cNvSpPr/>
          <p:nvPr/>
        </p:nvSpPr>
        <p:spPr>
          <a:xfrm>
            <a:off x="3657600" y="530352"/>
            <a:ext cx="1371600" cy="201168"/>
          </a:xfrm>
          <a:prstGeom prst="rect">
            <a:avLst/>
          </a:prstGeom>
          <a:noFill/>
          <a:ln/>
        </p:spPr>
        <p:txBody>
          <a:bodyPr wrap="square" lIns="0" tIns="0" rIns="0" bIns="0" rtlCol="0" anchor="ctr"/>
          <a:lstStyle/>
          <a:p>
            <a:pPr marL="0" indent="0" algn="ctr">
              <a:buNone/>
            </a:pPr>
            <a:r>
              <a:rPr lang="en-US" sz="750" b="1" kern="0" spc="100">
                <a:solidFill>
                  <a:srgbClr val="FFFFFF"/>
                </a:solidFill>
              </a:rPr>
              <a:t>HUB TEAM &amp; GUIDE</a:t>
            </a:r>
            <a:endParaRPr lang="en-US" sz="750"/>
          </a:p>
        </p:txBody>
      </p:sp>
      <p:sp>
        <p:nvSpPr>
          <p:cNvPr id="11" name="Shape 9"/>
          <p:cNvSpPr/>
          <p:nvPr/>
        </p:nvSpPr>
        <p:spPr>
          <a:xfrm>
            <a:off x="5394960" y="530352"/>
            <a:ext cx="1371600" cy="201168"/>
          </a:xfrm>
          <a:prstGeom prst="rect">
            <a:avLst/>
          </a:prstGeom>
          <a:solidFill>
            <a:srgbClr val="512E5F"/>
          </a:solidFill>
          <a:ln w="12700">
            <a:solidFill>
              <a:srgbClr val="512E5F"/>
            </a:solidFill>
            <a:prstDash val="solid"/>
          </a:ln>
        </p:spPr>
        <p:txBody>
          <a:bodyPr/>
          <a:lstStyle/>
          <a:p>
            <a:endParaRPr lang="en-US"/>
          </a:p>
        </p:txBody>
      </p:sp>
      <p:sp>
        <p:nvSpPr>
          <p:cNvPr id="12" name="Text 10"/>
          <p:cNvSpPr/>
          <p:nvPr/>
        </p:nvSpPr>
        <p:spPr>
          <a:xfrm>
            <a:off x="5394960" y="530352"/>
            <a:ext cx="1371600" cy="201168"/>
          </a:xfrm>
          <a:prstGeom prst="rect">
            <a:avLst/>
          </a:prstGeom>
          <a:noFill/>
          <a:ln/>
        </p:spPr>
        <p:txBody>
          <a:bodyPr wrap="square" lIns="0" tIns="0" rIns="0" bIns="0" rtlCol="0" anchor="ctr"/>
          <a:lstStyle/>
          <a:p>
            <a:pPr marL="0" indent="0" algn="ctr">
              <a:buNone/>
            </a:pPr>
            <a:r>
              <a:rPr lang="en-US" sz="750" b="1" kern="0" spc="100">
                <a:solidFill>
                  <a:srgbClr val="FFFFFF"/>
                </a:solidFill>
              </a:rPr>
              <a:t>RESOURCES</a:t>
            </a:r>
            <a:endParaRPr lang="en-US" sz="750"/>
          </a:p>
        </p:txBody>
      </p:sp>
      <p:sp>
        <p:nvSpPr>
          <p:cNvPr id="13" name="Shape 11"/>
          <p:cNvSpPr/>
          <p:nvPr/>
        </p:nvSpPr>
        <p:spPr>
          <a:xfrm>
            <a:off x="7955280" y="530352"/>
            <a:ext cx="1371600" cy="201168"/>
          </a:xfrm>
          <a:prstGeom prst="rect">
            <a:avLst/>
          </a:prstGeom>
          <a:solidFill>
            <a:srgbClr val="784212"/>
          </a:solidFill>
          <a:ln w="12700">
            <a:solidFill>
              <a:srgbClr val="784212"/>
            </a:solidFill>
            <a:prstDash val="solid"/>
          </a:ln>
        </p:spPr>
        <p:txBody>
          <a:bodyPr/>
          <a:lstStyle/>
          <a:p>
            <a:endParaRPr lang="en-US"/>
          </a:p>
        </p:txBody>
      </p:sp>
      <p:sp>
        <p:nvSpPr>
          <p:cNvPr id="14" name="Text 12"/>
          <p:cNvSpPr/>
          <p:nvPr/>
        </p:nvSpPr>
        <p:spPr>
          <a:xfrm>
            <a:off x="7955280" y="530352"/>
            <a:ext cx="1371600" cy="201168"/>
          </a:xfrm>
          <a:prstGeom prst="rect">
            <a:avLst/>
          </a:prstGeom>
          <a:noFill/>
          <a:ln/>
        </p:spPr>
        <p:txBody>
          <a:bodyPr wrap="square" lIns="0" tIns="0" rIns="0" bIns="0" rtlCol="0" anchor="ctr"/>
          <a:lstStyle/>
          <a:p>
            <a:pPr marL="0" indent="0" algn="ctr">
              <a:buNone/>
            </a:pPr>
            <a:r>
              <a:rPr lang="en-US" sz="750" b="1" kern="0" spc="100">
                <a:solidFill>
                  <a:srgbClr val="FFFFFF"/>
                </a:solidFill>
              </a:rPr>
              <a:t>OTHER AREAS</a:t>
            </a:r>
            <a:endParaRPr lang="en-US" sz="750"/>
          </a:p>
        </p:txBody>
      </p:sp>
      <p:grpSp>
        <p:nvGrpSpPr>
          <p:cNvPr id="92" name="Group 91">
            <a:extLst>
              <a:ext uri="{FF2B5EF4-FFF2-40B4-BE49-F238E27FC236}">
                <a16:creationId xmlns:a16="http://schemas.microsoft.com/office/drawing/2014/main" id="{8954E147-AC27-9279-28ED-73EA0B58B9DE}"/>
              </a:ext>
            </a:extLst>
          </p:cNvPr>
          <p:cNvGrpSpPr/>
          <p:nvPr/>
        </p:nvGrpSpPr>
        <p:grpSpPr>
          <a:xfrm>
            <a:off x="182880" y="804672"/>
            <a:ext cx="1417320" cy="502920"/>
            <a:chOff x="182880" y="804672"/>
            <a:chExt cx="1417320" cy="502920"/>
          </a:xfrm>
        </p:grpSpPr>
        <p:sp>
          <p:nvSpPr>
            <p:cNvPr id="15" name="Shape 13"/>
            <p:cNvSpPr/>
            <p:nvPr/>
          </p:nvSpPr>
          <p:spPr>
            <a:xfrm>
              <a:off x="182880" y="804672"/>
              <a:ext cx="1417320" cy="502920"/>
            </a:xfrm>
            <a:prstGeom prst="roundRect">
              <a:avLst>
                <a:gd name="adj" fmla="val 14545"/>
              </a:avLst>
            </a:prstGeom>
            <a:solidFill>
              <a:srgbClr val="1A5276"/>
            </a:solidFill>
            <a:ln w="12700">
              <a:solidFill>
                <a:srgbClr val="1A5276"/>
              </a:solidFill>
              <a:prstDash val="solid"/>
            </a:ln>
          </p:spPr>
          <p:txBody>
            <a:bodyPr/>
            <a:lstStyle/>
            <a:p>
              <a:endParaRPr lang="en-US"/>
            </a:p>
          </p:txBody>
        </p:sp>
        <p:sp>
          <p:nvSpPr>
            <p:cNvPr id="16" name="Text 14"/>
            <p:cNvSpPr/>
            <p:nvPr/>
          </p:nvSpPr>
          <p:spPr>
            <a:xfrm>
              <a:off x="228600" y="804672"/>
              <a:ext cx="1325880" cy="502920"/>
            </a:xfrm>
            <a:prstGeom prst="rect">
              <a:avLst/>
            </a:prstGeom>
            <a:noFill/>
            <a:ln/>
          </p:spPr>
          <p:txBody>
            <a:bodyPr wrap="square" lIns="50800" tIns="50800" rIns="50800" bIns="50800" rtlCol="0" anchor="ctr"/>
            <a:lstStyle/>
            <a:p>
              <a:pPr marL="0" indent="0" algn="ctr">
                <a:buNone/>
              </a:pPr>
              <a:r>
                <a:rPr lang="en-US" sz="950" b="1">
                  <a:solidFill>
                    <a:srgbClr val="FFFFFF"/>
                  </a:solidFill>
                </a:rPr>
                <a:t>1. College Objectives</a:t>
              </a:r>
              <a:endParaRPr lang="en-US" sz="950"/>
            </a:p>
            <a:p>
              <a:pPr marL="0" indent="0" algn="ctr">
                <a:buNone/>
              </a:pPr>
              <a:r>
                <a:rPr lang="en-US" sz="800">
                  <a:solidFill>
                    <a:srgbClr val="FFFFFF"/>
                  </a:solidFill>
                </a:rPr>
                <a:t>Business plan · Dean · Todd Model · VIBE</a:t>
              </a:r>
              <a:endParaRPr lang="en-US" sz="950"/>
            </a:p>
          </p:txBody>
        </p:sp>
      </p:grpSp>
      <p:sp>
        <p:nvSpPr>
          <p:cNvPr id="17" name="Shape 15"/>
          <p:cNvSpPr/>
          <p:nvPr/>
        </p:nvSpPr>
        <p:spPr>
          <a:xfrm>
            <a:off x="891540" y="1307592"/>
            <a:ext cx="0" cy="201168"/>
          </a:xfrm>
          <a:prstGeom prst="line">
            <a:avLst/>
          </a:prstGeom>
          <a:noFill/>
          <a:ln w="19050">
            <a:solidFill>
              <a:srgbClr val="7F8C8D"/>
            </a:solidFill>
            <a:prstDash val="solid"/>
            <a:tailEnd type="arrow"/>
          </a:ln>
        </p:spPr>
        <p:txBody>
          <a:bodyPr/>
          <a:lstStyle/>
          <a:p>
            <a:endParaRPr lang="en-US"/>
          </a:p>
        </p:txBody>
      </p:sp>
      <p:grpSp>
        <p:nvGrpSpPr>
          <p:cNvPr id="91" name="Group 90">
            <a:extLst>
              <a:ext uri="{FF2B5EF4-FFF2-40B4-BE49-F238E27FC236}">
                <a16:creationId xmlns:a16="http://schemas.microsoft.com/office/drawing/2014/main" id="{1514940E-100A-FEE2-0B84-93379866B076}"/>
              </a:ext>
            </a:extLst>
          </p:cNvPr>
          <p:cNvGrpSpPr/>
          <p:nvPr/>
        </p:nvGrpSpPr>
        <p:grpSpPr>
          <a:xfrm>
            <a:off x="190500" y="1527048"/>
            <a:ext cx="1417320" cy="502920"/>
            <a:chOff x="182880" y="1988432"/>
            <a:chExt cx="1417320" cy="502920"/>
          </a:xfrm>
        </p:grpSpPr>
        <p:sp>
          <p:nvSpPr>
            <p:cNvPr id="18" name="Shape 16"/>
            <p:cNvSpPr/>
            <p:nvPr/>
          </p:nvSpPr>
          <p:spPr>
            <a:xfrm>
              <a:off x="182880" y="1988432"/>
              <a:ext cx="1417320" cy="502920"/>
            </a:xfrm>
            <a:prstGeom prst="roundRect">
              <a:avLst>
                <a:gd name="adj" fmla="val 14545"/>
              </a:avLst>
            </a:prstGeom>
            <a:solidFill>
              <a:srgbClr val="2471A3"/>
            </a:solidFill>
            <a:ln w="12700">
              <a:solidFill>
                <a:srgbClr val="2471A3"/>
              </a:solidFill>
              <a:prstDash val="solid"/>
            </a:ln>
          </p:spPr>
          <p:txBody>
            <a:bodyPr/>
            <a:lstStyle/>
            <a:p>
              <a:endParaRPr lang="en-US"/>
            </a:p>
          </p:txBody>
        </p:sp>
        <p:sp>
          <p:nvSpPr>
            <p:cNvPr id="19" name="Text 17"/>
            <p:cNvSpPr/>
            <p:nvPr/>
          </p:nvSpPr>
          <p:spPr>
            <a:xfrm>
              <a:off x="228600" y="1988432"/>
              <a:ext cx="1325880" cy="502920"/>
            </a:xfrm>
            <a:prstGeom prst="rect">
              <a:avLst/>
            </a:prstGeom>
            <a:noFill/>
            <a:ln/>
          </p:spPr>
          <p:txBody>
            <a:bodyPr wrap="square" lIns="50800" tIns="50800" rIns="50800" bIns="50800" rtlCol="0" anchor="ctr"/>
            <a:lstStyle/>
            <a:p>
              <a:pPr marL="0" indent="0" algn="ctr">
                <a:buNone/>
              </a:pPr>
              <a:r>
                <a:rPr lang="en-US" sz="950" b="1">
                  <a:solidFill>
                    <a:srgbClr val="FFFFFF"/>
                  </a:solidFill>
                </a:rPr>
                <a:t>2. Hub Team</a:t>
              </a:r>
              <a:endParaRPr lang="en-US" sz="950"/>
            </a:p>
            <a:p>
              <a:pPr marL="0" indent="0" algn="ctr">
                <a:buNone/>
              </a:pPr>
              <a:r>
                <a:rPr lang="en-US" sz="800">
                  <a:solidFill>
                    <a:srgbClr val="FFFFFF"/>
                  </a:solidFill>
                </a:rPr>
                <a:t>Receives strategic plan · Makes recommendations</a:t>
              </a:r>
              <a:endParaRPr lang="en-US" sz="950"/>
            </a:p>
          </p:txBody>
        </p:sp>
      </p:grpSp>
      <p:grpSp>
        <p:nvGrpSpPr>
          <p:cNvPr id="90" name="Group 89">
            <a:extLst>
              <a:ext uri="{FF2B5EF4-FFF2-40B4-BE49-F238E27FC236}">
                <a16:creationId xmlns:a16="http://schemas.microsoft.com/office/drawing/2014/main" id="{05FBA3C3-E84F-3A1F-E03F-484DF1BCF7AF}"/>
              </a:ext>
            </a:extLst>
          </p:cNvPr>
          <p:cNvGrpSpPr/>
          <p:nvPr/>
        </p:nvGrpSpPr>
        <p:grpSpPr>
          <a:xfrm>
            <a:off x="190500" y="4686300"/>
            <a:ext cx="1417320" cy="411480"/>
            <a:chOff x="182880" y="2720340"/>
            <a:chExt cx="1417320" cy="411480"/>
          </a:xfrm>
        </p:grpSpPr>
        <p:sp>
          <p:nvSpPr>
            <p:cNvPr id="21" name="Shape 19"/>
            <p:cNvSpPr/>
            <p:nvPr/>
          </p:nvSpPr>
          <p:spPr>
            <a:xfrm>
              <a:off x="182880" y="2720340"/>
              <a:ext cx="1417320" cy="411480"/>
            </a:xfrm>
            <a:prstGeom prst="roundRect">
              <a:avLst>
                <a:gd name="adj" fmla="val 17778"/>
              </a:avLst>
            </a:prstGeom>
            <a:solidFill>
              <a:srgbClr val="2980B9"/>
            </a:solidFill>
            <a:ln w="12700">
              <a:solidFill>
                <a:srgbClr val="2980B9"/>
              </a:solidFill>
              <a:prstDash val="solid"/>
            </a:ln>
          </p:spPr>
          <p:txBody>
            <a:bodyPr/>
            <a:lstStyle/>
            <a:p>
              <a:endParaRPr lang="en-US"/>
            </a:p>
          </p:txBody>
        </p:sp>
        <p:sp>
          <p:nvSpPr>
            <p:cNvPr id="22" name="Text 20"/>
            <p:cNvSpPr/>
            <p:nvPr/>
          </p:nvSpPr>
          <p:spPr>
            <a:xfrm>
              <a:off x="228600" y="2720340"/>
              <a:ext cx="1325880" cy="411480"/>
            </a:xfrm>
            <a:prstGeom prst="rect">
              <a:avLst/>
            </a:prstGeom>
            <a:noFill/>
            <a:ln/>
          </p:spPr>
          <p:txBody>
            <a:bodyPr wrap="square" lIns="50800" tIns="50800" rIns="50800" bIns="50800" rtlCol="0" anchor="ctr"/>
            <a:lstStyle/>
            <a:p>
              <a:pPr marL="0" indent="0" algn="ctr">
                <a:buNone/>
              </a:pPr>
              <a:r>
                <a:rPr lang="en-US" sz="950" b="1">
                  <a:solidFill>
                    <a:srgbClr val="FFFFFF"/>
                  </a:solidFill>
                </a:rPr>
                <a:t>Filters / AI Planning</a:t>
              </a:r>
              <a:endParaRPr lang="en-US" sz="950"/>
            </a:p>
            <a:p>
              <a:pPr marL="0" indent="0" algn="ctr">
                <a:buNone/>
              </a:pPr>
              <a:r>
                <a:rPr lang="en-US" sz="800">
                  <a:solidFill>
                    <a:srgbClr val="FFFFFF"/>
                  </a:solidFill>
                </a:rPr>
                <a:t>Message map · Strategic roadmap</a:t>
              </a:r>
              <a:endParaRPr lang="en-US" sz="950"/>
            </a:p>
          </p:txBody>
        </p:sp>
      </p:grpSp>
      <p:sp>
        <p:nvSpPr>
          <p:cNvPr id="23" name="Shape 21"/>
          <p:cNvSpPr/>
          <p:nvPr/>
        </p:nvSpPr>
        <p:spPr>
          <a:xfrm>
            <a:off x="883920" y="2039112"/>
            <a:ext cx="0" cy="201168"/>
          </a:xfrm>
          <a:prstGeom prst="line">
            <a:avLst/>
          </a:prstGeom>
          <a:noFill/>
          <a:ln w="19050">
            <a:solidFill>
              <a:srgbClr val="7F8C8D"/>
            </a:solidFill>
            <a:prstDash val="solid"/>
            <a:tailEnd type="arrow"/>
          </a:ln>
        </p:spPr>
        <p:txBody>
          <a:bodyPr/>
          <a:lstStyle/>
          <a:p>
            <a:endParaRPr lang="en-US"/>
          </a:p>
        </p:txBody>
      </p:sp>
      <p:grpSp>
        <p:nvGrpSpPr>
          <p:cNvPr id="89" name="Group 88">
            <a:extLst>
              <a:ext uri="{FF2B5EF4-FFF2-40B4-BE49-F238E27FC236}">
                <a16:creationId xmlns:a16="http://schemas.microsoft.com/office/drawing/2014/main" id="{BA0DD178-E1E0-4AE9-BC95-5B5DC87D7786}"/>
              </a:ext>
            </a:extLst>
          </p:cNvPr>
          <p:cNvGrpSpPr/>
          <p:nvPr/>
        </p:nvGrpSpPr>
        <p:grpSpPr>
          <a:xfrm>
            <a:off x="190500" y="2258568"/>
            <a:ext cx="1417320" cy="502920"/>
            <a:chOff x="182880" y="2423160"/>
            <a:chExt cx="1417320" cy="502920"/>
          </a:xfrm>
        </p:grpSpPr>
        <p:sp>
          <p:nvSpPr>
            <p:cNvPr id="24" name="Shape 22"/>
            <p:cNvSpPr/>
            <p:nvPr/>
          </p:nvSpPr>
          <p:spPr>
            <a:xfrm>
              <a:off x="182880" y="2423160"/>
              <a:ext cx="1417320" cy="502920"/>
            </a:xfrm>
            <a:prstGeom prst="roundRect">
              <a:avLst>
                <a:gd name="adj" fmla="val 14545"/>
              </a:avLst>
            </a:prstGeom>
            <a:solidFill>
              <a:srgbClr val="1F618D"/>
            </a:solidFill>
            <a:ln w="12700">
              <a:solidFill>
                <a:srgbClr val="1F618D"/>
              </a:solidFill>
              <a:prstDash val="solid"/>
            </a:ln>
          </p:spPr>
          <p:txBody>
            <a:bodyPr/>
            <a:lstStyle/>
            <a:p>
              <a:endParaRPr lang="en-US"/>
            </a:p>
          </p:txBody>
        </p:sp>
        <p:sp>
          <p:nvSpPr>
            <p:cNvPr id="25" name="Text 23"/>
            <p:cNvSpPr/>
            <p:nvPr/>
          </p:nvSpPr>
          <p:spPr>
            <a:xfrm>
              <a:off x="228600" y="2423160"/>
              <a:ext cx="1325880" cy="502920"/>
            </a:xfrm>
            <a:prstGeom prst="rect">
              <a:avLst/>
            </a:prstGeom>
            <a:noFill/>
            <a:ln/>
          </p:spPr>
          <p:txBody>
            <a:bodyPr wrap="square" lIns="50800" tIns="50800" rIns="50800" bIns="50800" rtlCol="0" anchor="ctr"/>
            <a:lstStyle/>
            <a:p>
              <a:pPr marL="0" indent="0" algn="ctr">
                <a:buNone/>
              </a:pPr>
              <a:r>
                <a:rPr lang="en-US" sz="950" b="1">
                  <a:solidFill>
                    <a:srgbClr val="FFFFFF"/>
                  </a:solidFill>
                </a:rPr>
                <a:t>3. Channel Masters</a:t>
              </a:r>
              <a:endParaRPr lang="en-US" sz="950"/>
            </a:p>
            <a:p>
              <a:pPr marL="0" indent="0" algn="ctr">
                <a:buNone/>
              </a:pPr>
              <a:r>
                <a:rPr lang="en-US" sz="800">
                  <a:solidFill>
                    <a:srgbClr val="FFFFFF"/>
                  </a:solidFill>
                </a:rPr>
                <a:t>Plan content calendar</a:t>
              </a:r>
              <a:endParaRPr lang="en-US" sz="950"/>
            </a:p>
          </p:txBody>
        </p:sp>
      </p:grpSp>
      <p:sp>
        <p:nvSpPr>
          <p:cNvPr id="26" name="Shape 24"/>
          <p:cNvSpPr/>
          <p:nvPr/>
        </p:nvSpPr>
        <p:spPr>
          <a:xfrm>
            <a:off x="899160" y="2761488"/>
            <a:ext cx="0" cy="201168"/>
          </a:xfrm>
          <a:prstGeom prst="line">
            <a:avLst/>
          </a:prstGeom>
          <a:noFill/>
          <a:ln w="19050">
            <a:solidFill>
              <a:srgbClr val="7F8C8D"/>
            </a:solidFill>
            <a:prstDash val="solid"/>
            <a:tailEnd type="arrow"/>
          </a:ln>
        </p:spPr>
        <p:txBody>
          <a:bodyPr/>
          <a:lstStyle/>
          <a:p>
            <a:endParaRPr lang="en-US"/>
          </a:p>
        </p:txBody>
      </p:sp>
      <p:grpSp>
        <p:nvGrpSpPr>
          <p:cNvPr id="88" name="Group 87">
            <a:extLst>
              <a:ext uri="{FF2B5EF4-FFF2-40B4-BE49-F238E27FC236}">
                <a16:creationId xmlns:a16="http://schemas.microsoft.com/office/drawing/2014/main" id="{040AEF2F-4DBC-3A93-E2CC-D7B33597FB19}"/>
              </a:ext>
            </a:extLst>
          </p:cNvPr>
          <p:cNvGrpSpPr/>
          <p:nvPr/>
        </p:nvGrpSpPr>
        <p:grpSpPr>
          <a:xfrm>
            <a:off x="167640" y="2980944"/>
            <a:ext cx="1417320" cy="621792"/>
            <a:chOff x="182880" y="2825496"/>
            <a:chExt cx="1417320" cy="502920"/>
          </a:xfrm>
        </p:grpSpPr>
        <p:sp>
          <p:nvSpPr>
            <p:cNvPr id="27" name="Shape 25"/>
            <p:cNvSpPr/>
            <p:nvPr/>
          </p:nvSpPr>
          <p:spPr>
            <a:xfrm>
              <a:off x="182880" y="2825496"/>
              <a:ext cx="1417320" cy="502920"/>
            </a:xfrm>
            <a:prstGeom prst="roundRect">
              <a:avLst>
                <a:gd name="adj" fmla="val 14545"/>
              </a:avLst>
            </a:prstGeom>
            <a:solidFill>
              <a:srgbClr val="154360"/>
            </a:solidFill>
            <a:ln w="12700">
              <a:solidFill>
                <a:srgbClr val="154360"/>
              </a:solidFill>
              <a:prstDash val="solid"/>
            </a:ln>
          </p:spPr>
          <p:txBody>
            <a:bodyPr/>
            <a:lstStyle/>
            <a:p>
              <a:endParaRPr lang="en-US"/>
            </a:p>
          </p:txBody>
        </p:sp>
        <p:sp>
          <p:nvSpPr>
            <p:cNvPr id="28" name="Text 26"/>
            <p:cNvSpPr/>
            <p:nvPr/>
          </p:nvSpPr>
          <p:spPr>
            <a:xfrm>
              <a:off x="228600" y="2825496"/>
              <a:ext cx="1325880" cy="502920"/>
            </a:xfrm>
            <a:prstGeom prst="rect">
              <a:avLst/>
            </a:prstGeom>
            <a:noFill/>
            <a:ln/>
          </p:spPr>
          <p:txBody>
            <a:bodyPr wrap="square" lIns="50800" tIns="50800" rIns="50800" bIns="50800" rtlCol="0" anchor="ctr"/>
            <a:lstStyle/>
            <a:p>
              <a:pPr algn="ctr"/>
              <a:r>
                <a:rPr lang="en-US" sz="950" b="1">
                  <a:solidFill>
                    <a:srgbClr val="FFFFFF"/>
                  </a:solidFill>
                </a:rPr>
                <a:t>4. Engagement &amp; Optimization Team</a:t>
              </a:r>
              <a:endParaRPr lang="en-US" sz="950"/>
            </a:p>
            <a:p>
              <a:pPr marL="0" indent="0" algn="ctr">
                <a:buNone/>
              </a:pPr>
              <a:r>
                <a:rPr lang="en-US" sz="800">
                  <a:solidFill>
                    <a:srgbClr val="FFFFFF"/>
                  </a:solidFill>
                </a:rPr>
                <a:t>Measure · Multi-channel dashboard</a:t>
              </a:r>
              <a:endParaRPr lang="en-US" sz="950"/>
            </a:p>
          </p:txBody>
        </p:sp>
      </p:grpSp>
      <p:grpSp>
        <p:nvGrpSpPr>
          <p:cNvPr id="99" name="Group 98">
            <a:extLst>
              <a:ext uri="{FF2B5EF4-FFF2-40B4-BE49-F238E27FC236}">
                <a16:creationId xmlns:a16="http://schemas.microsoft.com/office/drawing/2014/main" id="{F29D5A5C-FDCF-2F10-0A16-3B9FF1460818}"/>
              </a:ext>
            </a:extLst>
          </p:cNvPr>
          <p:cNvGrpSpPr/>
          <p:nvPr/>
        </p:nvGrpSpPr>
        <p:grpSpPr>
          <a:xfrm>
            <a:off x="1920240" y="804672"/>
            <a:ext cx="1417320" cy="502920"/>
            <a:chOff x="1920240" y="804672"/>
            <a:chExt cx="1417320" cy="502920"/>
          </a:xfrm>
        </p:grpSpPr>
        <p:sp>
          <p:nvSpPr>
            <p:cNvPr id="29" name="Shape 27"/>
            <p:cNvSpPr/>
            <p:nvPr/>
          </p:nvSpPr>
          <p:spPr>
            <a:xfrm>
              <a:off x="1920240" y="804672"/>
              <a:ext cx="1417320" cy="502920"/>
            </a:xfrm>
            <a:prstGeom prst="roundRect">
              <a:avLst>
                <a:gd name="adj" fmla="val 14545"/>
              </a:avLst>
            </a:prstGeom>
            <a:solidFill>
              <a:srgbClr val="922B21"/>
            </a:solidFill>
            <a:ln w="12700">
              <a:solidFill>
                <a:srgbClr val="922B21"/>
              </a:solidFill>
              <a:prstDash val="solid"/>
            </a:ln>
          </p:spPr>
          <p:txBody>
            <a:bodyPr/>
            <a:lstStyle/>
            <a:p>
              <a:endParaRPr lang="en-US"/>
            </a:p>
          </p:txBody>
        </p:sp>
        <p:sp>
          <p:nvSpPr>
            <p:cNvPr id="30" name="Text 28"/>
            <p:cNvSpPr/>
            <p:nvPr/>
          </p:nvSpPr>
          <p:spPr>
            <a:xfrm>
              <a:off x="1965960" y="804672"/>
              <a:ext cx="1325880" cy="502920"/>
            </a:xfrm>
            <a:prstGeom prst="rect">
              <a:avLst/>
            </a:prstGeom>
            <a:noFill/>
            <a:ln/>
          </p:spPr>
          <p:txBody>
            <a:bodyPr wrap="square" lIns="50800" tIns="50800" rIns="50800" bIns="50800" rtlCol="0" anchor="ctr"/>
            <a:lstStyle/>
            <a:p>
              <a:pPr marL="0" indent="0" algn="ctr">
                <a:buNone/>
              </a:pPr>
              <a:r>
                <a:rPr lang="en-US" sz="950" b="1">
                  <a:solidFill>
                    <a:srgbClr val="FFFFFF"/>
                  </a:solidFill>
                </a:rPr>
                <a:t>Sources</a:t>
              </a:r>
              <a:endParaRPr lang="en-US" sz="950"/>
            </a:p>
            <a:p>
              <a:pPr marL="0" indent="0" algn="ctr">
                <a:buNone/>
              </a:pPr>
              <a:r>
                <a:rPr lang="en-US" sz="800">
                  <a:solidFill>
                    <a:srgbClr val="FFFFFF"/>
                  </a:solidFill>
                </a:rPr>
                <a:t>College events · Dean whims · Admin</a:t>
              </a:r>
              <a:endParaRPr lang="en-US" sz="950"/>
            </a:p>
          </p:txBody>
        </p:sp>
      </p:grpSp>
      <p:sp>
        <p:nvSpPr>
          <p:cNvPr id="31" name="Shape 29"/>
          <p:cNvSpPr/>
          <p:nvPr/>
        </p:nvSpPr>
        <p:spPr>
          <a:xfrm>
            <a:off x="2628900" y="1307592"/>
            <a:ext cx="0" cy="201168"/>
          </a:xfrm>
          <a:prstGeom prst="line">
            <a:avLst/>
          </a:prstGeom>
          <a:noFill/>
          <a:ln w="19050">
            <a:solidFill>
              <a:srgbClr val="7F8C8D"/>
            </a:solidFill>
            <a:prstDash val="solid"/>
            <a:tailEnd type="arrow"/>
          </a:ln>
        </p:spPr>
        <p:txBody>
          <a:bodyPr/>
          <a:lstStyle/>
          <a:p>
            <a:endParaRPr lang="en-US"/>
          </a:p>
        </p:txBody>
      </p:sp>
      <p:grpSp>
        <p:nvGrpSpPr>
          <p:cNvPr id="98" name="Group 97">
            <a:extLst>
              <a:ext uri="{FF2B5EF4-FFF2-40B4-BE49-F238E27FC236}">
                <a16:creationId xmlns:a16="http://schemas.microsoft.com/office/drawing/2014/main" id="{2F1938C2-8E71-F4FF-7E28-776B2C19D3B6}"/>
              </a:ext>
            </a:extLst>
          </p:cNvPr>
          <p:cNvGrpSpPr/>
          <p:nvPr/>
        </p:nvGrpSpPr>
        <p:grpSpPr>
          <a:xfrm>
            <a:off x="1916429" y="1531684"/>
            <a:ext cx="1417320" cy="347472"/>
            <a:chOff x="1920240" y="1207008"/>
            <a:chExt cx="1417320" cy="347472"/>
          </a:xfrm>
        </p:grpSpPr>
        <p:sp>
          <p:nvSpPr>
            <p:cNvPr id="32" name="Shape 30"/>
            <p:cNvSpPr/>
            <p:nvPr/>
          </p:nvSpPr>
          <p:spPr>
            <a:xfrm>
              <a:off x="1920240" y="1207008"/>
              <a:ext cx="1417320" cy="347472"/>
            </a:xfrm>
            <a:prstGeom prst="roundRect">
              <a:avLst>
                <a:gd name="adj" fmla="val 21053"/>
              </a:avLst>
            </a:prstGeom>
            <a:solidFill>
              <a:srgbClr val="C0392B"/>
            </a:solidFill>
            <a:ln w="12700">
              <a:solidFill>
                <a:srgbClr val="C0392B"/>
              </a:solidFill>
              <a:prstDash val="solid"/>
            </a:ln>
          </p:spPr>
          <p:txBody>
            <a:bodyPr/>
            <a:lstStyle/>
            <a:p>
              <a:endParaRPr lang="en-US"/>
            </a:p>
          </p:txBody>
        </p:sp>
        <p:sp>
          <p:nvSpPr>
            <p:cNvPr id="33" name="Text 31"/>
            <p:cNvSpPr/>
            <p:nvPr/>
          </p:nvSpPr>
          <p:spPr>
            <a:xfrm>
              <a:off x="1965960" y="1207008"/>
              <a:ext cx="1325880" cy="347472"/>
            </a:xfrm>
            <a:prstGeom prst="rect">
              <a:avLst/>
            </a:prstGeom>
            <a:noFill/>
            <a:ln/>
          </p:spPr>
          <p:txBody>
            <a:bodyPr wrap="square" lIns="50800" tIns="50800" rIns="50800" bIns="50800" rtlCol="0" anchor="ctr"/>
            <a:lstStyle/>
            <a:p>
              <a:pPr marL="0" indent="0" algn="ctr">
                <a:buNone/>
              </a:pPr>
              <a:r>
                <a:rPr lang="en-US" sz="950" b="1">
                  <a:solidFill>
                    <a:srgbClr val="FFFFFF"/>
                  </a:solidFill>
                </a:rPr>
                <a:t>College Directors</a:t>
              </a:r>
              <a:endParaRPr lang="en-US" sz="950"/>
            </a:p>
          </p:txBody>
        </p:sp>
      </p:grpSp>
      <p:sp>
        <p:nvSpPr>
          <p:cNvPr id="34" name="Shape 32"/>
          <p:cNvSpPr/>
          <p:nvPr/>
        </p:nvSpPr>
        <p:spPr>
          <a:xfrm>
            <a:off x="2625089" y="1879156"/>
            <a:ext cx="0" cy="182880"/>
          </a:xfrm>
          <a:prstGeom prst="line">
            <a:avLst/>
          </a:prstGeom>
          <a:noFill/>
          <a:ln w="19050">
            <a:solidFill>
              <a:srgbClr val="7F8C8D"/>
            </a:solidFill>
            <a:prstDash val="solid"/>
            <a:tailEnd type="arrow"/>
          </a:ln>
        </p:spPr>
        <p:txBody>
          <a:bodyPr/>
          <a:lstStyle/>
          <a:p>
            <a:endParaRPr lang="en-US"/>
          </a:p>
        </p:txBody>
      </p:sp>
      <p:grpSp>
        <p:nvGrpSpPr>
          <p:cNvPr id="97" name="Group 96">
            <a:extLst>
              <a:ext uri="{FF2B5EF4-FFF2-40B4-BE49-F238E27FC236}">
                <a16:creationId xmlns:a16="http://schemas.microsoft.com/office/drawing/2014/main" id="{A2DA7C78-2189-8BE5-F603-B54DE25E0917}"/>
              </a:ext>
            </a:extLst>
          </p:cNvPr>
          <p:cNvGrpSpPr/>
          <p:nvPr/>
        </p:nvGrpSpPr>
        <p:grpSpPr>
          <a:xfrm>
            <a:off x="1916429" y="2072196"/>
            <a:ext cx="1417320" cy="347472"/>
            <a:chOff x="1920240" y="1572768"/>
            <a:chExt cx="1417320" cy="347472"/>
          </a:xfrm>
        </p:grpSpPr>
        <p:sp>
          <p:nvSpPr>
            <p:cNvPr id="35" name="Shape 33"/>
            <p:cNvSpPr/>
            <p:nvPr/>
          </p:nvSpPr>
          <p:spPr>
            <a:xfrm>
              <a:off x="1920240" y="1572768"/>
              <a:ext cx="1417320" cy="347472"/>
            </a:xfrm>
            <a:prstGeom prst="roundRect">
              <a:avLst>
                <a:gd name="adj" fmla="val 21053"/>
              </a:avLst>
            </a:prstGeom>
            <a:solidFill>
              <a:srgbClr val="A93226"/>
            </a:solidFill>
            <a:ln w="12700">
              <a:solidFill>
                <a:srgbClr val="A93226"/>
              </a:solidFill>
              <a:prstDash val="solid"/>
            </a:ln>
          </p:spPr>
          <p:txBody>
            <a:bodyPr/>
            <a:lstStyle/>
            <a:p>
              <a:endParaRPr lang="en-US"/>
            </a:p>
          </p:txBody>
        </p:sp>
        <p:sp>
          <p:nvSpPr>
            <p:cNvPr id="36" name="Text 34"/>
            <p:cNvSpPr/>
            <p:nvPr/>
          </p:nvSpPr>
          <p:spPr>
            <a:xfrm>
              <a:off x="1965960" y="1572768"/>
              <a:ext cx="1325880" cy="347472"/>
            </a:xfrm>
            <a:prstGeom prst="rect">
              <a:avLst/>
            </a:prstGeom>
            <a:noFill/>
            <a:ln/>
          </p:spPr>
          <p:txBody>
            <a:bodyPr wrap="square" lIns="50800" tIns="50800" rIns="50800" bIns="50800" rtlCol="0" anchor="ctr"/>
            <a:lstStyle/>
            <a:p>
              <a:pPr marL="0" indent="0" algn="ctr">
                <a:buNone/>
              </a:pPr>
              <a:r>
                <a:rPr lang="en-US" sz="950" b="1">
                  <a:solidFill>
                    <a:srgbClr val="FFFFFF"/>
                  </a:solidFill>
                </a:rPr>
                <a:t>UCM POC</a:t>
              </a:r>
              <a:endParaRPr lang="en-US" sz="950"/>
            </a:p>
          </p:txBody>
        </p:sp>
      </p:grpSp>
      <p:sp>
        <p:nvSpPr>
          <p:cNvPr id="37" name="Shape 35"/>
          <p:cNvSpPr/>
          <p:nvPr/>
        </p:nvSpPr>
        <p:spPr>
          <a:xfrm>
            <a:off x="2625089" y="2419668"/>
            <a:ext cx="0" cy="182880"/>
          </a:xfrm>
          <a:prstGeom prst="line">
            <a:avLst/>
          </a:prstGeom>
          <a:noFill/>
          <a:ln w="19050">
            <a:solidFill>
              <a:srgbClr val="7F8C8D"/>
            </a:solidFill>
            <a:prstDash val="solid"/>
            <a:tailEnd type="arrow"/>
          </a:ln>
        </p:spPr>
        <p:txBody>
          <a:bodyPr/>
          <a:lstStyle/>
          <a:p>
            <a:endParaRPr lang="en-US"/>
          </a:p>
        </p:txBody>
      </p:sp>
      <p:grpSp>
        <p:nvGrpSpPr>
          <p:cNvPr id="96" name="Group 95">
            <a:extLst>
              <a:ext uri="{FF2B5EF4-FFF2-40B4-BE49-F238E27FC236}">
                <a16:creationId xmlns:a16="http://schemas.microsoft.com/office/drawing/2014/main" id="{78FBC84D-48C6-08BD-567E-350E82796ABB}"/>
              </a:ext>
            </a:extLst>
          </p:cNvPr>
          <p:cNvGrpSpPr/>
          <p:nvPr/>
        </p:nvGrpSpPr>
        <p:grpSpPr>
          <a:xfrm>
            <a:off x="1916429" y="2629345"/>
            <a:ext cx="1417320" cy="347472"/>
            <a:chOff x="1920240" y="1938528"/>
            <a:chExt cx="1417320" cy="347472"/>
          </a:xfrm>
        </p:grpSpPr>
        <p:sp>
          <p:nvSpPr>
            <p:cNvPr id="38" name="Shape 36"/>
            <p:cNvSpPr/>
            <p:nvPr/>
          </p:nvSpPr>
          <p:spPr>
            <a:xfrm>
              <a:off x="1920240" y="1938528"/>
              <a:ext cx="1417320" cy="347472"/>
            </a:xfrm>
            <a:prstGeom prst="roundRect">
              <a:avLst>
                <a:gd name="adj" fmla="val 21053"/>
              </a:avLst>
            </a:prstGeom>
            <a:solidFill>
              <a:srgbClr val="922B21"/>
            </a:solidFill>
            <a:ln w="12700">
              <a:solidFill>
                <a:srgbClr val="922B21"/>
              </a:solidFill>
              <a:prstDash val="solid"/>
            </a:ln>
          </p:spPr>
          <p:txBody>
            <a:bodyPr/>
            <a:lstStyle/>
            <a:p>
              <a:endParaRPr lang="en-US"/>
            </a:p>
          </p:txBody>
        </p:sp>
        <p:sp>
          <p:nvSpPr>
            <p:cNvPr id="39" name="Text 37"/>
            <p:cNvSpPr/>
            <p:nvPr/>
          </p:nvSpPr>
          <p:spPr>
            <a:xfrm>
              <a:off x="1965960" y="1938528"/>
              <a:ext cx="1325880" cy="347472"/>
            </a:xfrm>
            <a:prstGeom prst="rect">
              <a:avLst/>
            </a:prstGeom>
            <a:noFill/>
            <a:ln/>
          </p:spPr>
          <p:txBody>
            <a:bodyPr wrap="square" lIns="50800" tIns="50800" rIns="50800" bIns="50800" rtlCol="0" anchor="ctr"/>
            <a:lstStyle/>
            <a:p>
              <a:pPr marL="0" indent="0" algn="ctr">
                <a:buNone/>
              </a:pPr>
              <a:r>
                <a:rPr lang="en-US" sz="950" b="1">
                  <a:solidFill>
                    <a:srgbClr val="FFFFFF"/>
                  </a:solidFill>
                </a:rPr>
                <a:t>UCM Channel Masters</a:t>
              </a:r>
              <a:endParaRPr lang="en-US" sz="950"/>
            </a:p>
          </p:txBody>
        </p:sp>
      </p:grpSp>
      <p:sp>
        <p:nvSpPr>
          <p:cNvPr id="40" name="Shape 38"/>
          <p:cNvSpPr/>
          <p:nvPr/>
        </p:nvSpPr>
        <p:spPr>
          <a:xfrm>
            <a:off x="2625089" y="2976817"/>
            <a:ext cx="0" cy="182880"/>
          </a:xfrm>
          <a:prstGeom prst="line">
            <a:avLst/>
          </a:prstGeom>
          <a:noFill/>
          <a:ln w="19050">
            <a:solidFill>
              <a:srgbClr val="7F8C8D"/>
            </a:solidFill>
            <a:prstDash val="solid"/>
            <a:tailEnd type="arrow"/>
          </a:ln>
        </p:spPr>
        <p:txBody>
          <a:bodyPr/>
          <a:lstStyle/>
          <a:p>
            <a:endParaRPr lang="en-US"/>
          </a:p>
        </p:txBody>
      </p:sp>
      <p:grpSp>
        <p:nvGrpSpPr>
          <p:cNvPr id="95" name="Group 94">
            <a:extLst>
              <a:ext uri="{FF2B5EF4-FFF2-40B4-BE49-F238E27FC236}">
                <a16:creationId xmlns:a16="http://schemas.microsoft.com/office/drawing/2014/main" id="{C11EAEE9-72D3-A5BA-A297-5DDAFDECC02F}"/>
              </a:ext>
            </a:extLst>
          </p:cNvPr>
          <p:cNvGrpSpPr/>
          <p:nvPr/>
        </p:nvGrpSpPr>
        <p:grpSpPr>
          <a:xfrm>
            <a:off x="1916429" y="3177985"/>
            <a:ext cx="1417320" cy="347472"/>
            <a:chOff x="1920240" y="2304288"/>
            <a:chExt cx="1417320" cy="347472"/>
          </a:xfrm>
        </p:grpSpPr>
        <p:sp>
          <p:nvSpPr>
            <p:cNvPr id="41" name="Shape 39"/>
            <p:cNvSpPr/>
            <p:nvPr/>
          </p:nvSpPr>
          <p:spPr>
            <a:xfrm>
              <a:off x="1920240" y="2304288"/>
              <a:ext cx="1417320" cy="347472"/>
            </a:xfrm>
            <a:prstGeom prst="roundRect">
              <a:avLst>
                <a:gd name="adj" fmla="val 21053"/>
              </a:avLst>
            </a:prstGeom>
            <a:solidFill>
              <a:srgbClr val="7B241C"/>
            </a:solidFill>
            <a:ln w="12700">
              <a:solidFill>
                <a:srgbClr val="7B241C"/>
              </a:solidFill>
              <a:prstDash val="solid"/>
            </a:ln>
          </p:spPr>
          <p:txBody>
            <a:bodyPr/>
            <a:lstStyle/>
            <a:p>
              <a:endParaRPr lang="en-US"/>
            </a:p>
          </p:txBody>
        </p:sp>
        <p:sp>
          <p:nvSpPr>
            <p:cNvPr id="42" name="Text 40"/>
            <p:cNvSpPr/>
            <p:nvPr/>
          </p:nvSpPr>
          <p:spPr>
            <a:xfrm>
              <a:off x="1965960" y="2304288"/>
              <a:ext cx="1325880" cy="347472"/>
            </a:xfrm>
            <a:prstGeom prst="rect">
              <a:avLst/>
            </a:prstGeom>
            <a:noFill/>
            <a:ln/>
          </p:spPr>
          <p:txBody>
            <a:bodyPr wrap="square" lIns="50800" tIns="50800" rIns="50800" bIns="50800" rtlCol="0" anchor="ctr"/>
            <a:lstStyle/>
            <a:p>
              <a:pPr marL="0" indent="0" algn="ctr">
                <a:buNone/>
              </a:pPr>
              <a:r>
                <a:rPr lang="en-US" sz="950" b="1">
                  <a:solidFill>
                    <a:srgbClr val="FFFFFF"/>
                  </a:solidFill>
                </a:rPr>
                <a:t>Execution</a:t>
              </a:r>
              <a:endParaRPr lang="en-US" sz="950"/>
            </a:p>
          </p:txBody>
        </p:sp>
      </p:grpSp>
      <p:sp>
        <p:nvSpPr>
          <p:cNvPr id="43" name="Shape 41"/>
          <p:cNvSpPr/>
          <p:nvPr/>
        </p:nvSpPr>
        <p:spPr>
          <a:xfrm>
            <a:off x="2625089" y="3525457"/>
            <a:ext cx="0" cy="182880"/>
          </a:xfrm>
          <a:prstGeom prst="line">
            <a:avLst/>
          </a:prstGeom>
          <a:noFill/>
          <a:ln w="19050">
            <a:solidFill>
              <a:srgbClr val="7F8C8D"/>
            </a:solidFill>
            <a:prstDash val="solid"/>
            <a:tailEnd type="arrow"/>
          </a:ln>
        </p:spPr>
        <p:txBody>
          <a:bodyPr/>
          <a:lstStyle/>
          <a:p>
            <a:endParaRPr lang="en-US"/>
          </a:p>
        </p:txBody>
      </p:sp>
      <p:grpSp>
        <p:nvGrpSpPr>
          <p:cNvPr id="94" name="Group 93">
            <a:extLst>
              <a:ext uri="{FF2B5EF4-FFF2-40B4-BE49-F238E27FC236}">
                <a16:creationId xmlns:a16="http://schemas.microsoft.com/office/drawing/2014/main" id="{1D650628-B228-C2CE-3E26-DC767010FD4A}"/>
              </a:ext>
            </a:extLst>
          </p:cNvPr>
          <p:cNvGrpSpPr/>
          <p:nvPr/>
        </p:nvGrpSpPr>
        <p:grpSpPr>
          <a:xfrm>
            <a:off x="1916429" y="3727895"/>
            <a:ext cx="1417320" cy="347472"/>
            <a:chOff x="1920240" y="2670048"/>
            <a:chExt cx="1417320" cy="347472"/>
          </a:xfrm>
        </p:grpSpPr>
        <p:sp>
          <p:nvSpPr>
            <p:cNvPr id="44" name="Shape 42"/>
            <p:cNvSpPr/>
            <p:nvPr/>
          </p:nvSpPr>
          <p:spPr>
            <a:xfrm>
              <a:off x="1920240" y="2670048"/>
              <a:ext cx="1417320" cy="347472"/>
            </a:xfrm>
            <a:prstGeom prst="roundRect">
              <a:avLst>
                <a:gd name="adj" fmla="val 21053"/>
              </a:avLst>
            </a:prstGeom>
            <a:solidFill>
              <a:srgbClr val="641E16"/>
            </a:solidFill>
            <a:ln w="12700">
              <a:solidFill>
                <a:srgbClr val="641E16"/>
              </a:solidFill>
              <a:prstDash val="solid"/>
            </a:ln>
          </p:spPr>
          <p:txBody>
            <a:bodyPr/>
            <a:lstStyle/>
            <a:p>
              <a:endParaRPr lang="en-US"/>
            </a:p>
          </p:txBody>
        </p:sp>
        <p:sp>
          <p:nvSpPr>
            <p:cNvPr id="45" name="Text 43"/>
            <p:cNvSpPr/>
            <p:nvPr/>
          </p:nvSpPr>
          <p:spPr>
            <a:xfrm>
              <a:off x="1965960" y="2670048"/>
              <a:ext cx="1325880" cy="347472"/>
            </a:xfrm>
            <a:prstGeom prst="rect">
              <a:avLst/>
            </a:prstGeom>
            <a:noFill/>
            <a:ln/>
          </p:spPr>
          <p:txBody>
            <a:bodyPr wrap="square" lIns="50800" tIns="50800" rIns="50800" bIns="50800" rtlCol="0" anchor="ctr"/>
            <a:lstStyle/>
            <a:p>
              <a:pPr marL="0" indent="0" algn="ctr">
                <a:buNone/>
              </a:pPr>
              <a:r>
                <a:rPr lang="en-US" sz="950" b="1">
                  <a:solidFill>
                    <a:srgbClr val="FFFFFF"/>
                  </a:solidFill>
                </a:rPr>
                <a:t>Engagement &amp; Optimization Team</a:t>
              </a:r>
              <a:endParaRPr lang="en-US" sz="950"/>
            </a:p>
          </p:txBody>
        </p:sp>
      </p:grpSp>
      <p:sp>
        <p:nvSpPr>
          <p:cNvPr id="46" name="Shape 44"/>
          <p:cNvSpPr/>
          <p:nvPr/>
        </p:nvSpPr>
        <p:spPr>
          <a:xfrm>
            <a:off x="2625089" y="4075367"/>
            <a:ext cx="0" cy="182880"/>
          </a:xfrm>
          <a:prstGeom prst="line">
            <a:avLst/>
          </a:prstGeom>
          <a:noFill/>
          <a:ln w="19050">
            <a:solidFill>
              <a:srgbClr val="7F8C8D"/>
            </a:solidFill>
            <a:prstDash val="solid"/>
            <a:tailEnd type="arrow"/>
          </a:ln>
        </p:spPr>
        <p:txBody>
          <a:bodyPr/>
          <a:lstStyle/>
          <a:p>
            <a:endParaRPr lang="en-US"/>
          </a:p>
        </p:txBody>
      </p:sp>
      <p:grpSp>
        <p:nvGrpSpPr>
          <p:cNvPr id="93" name="Group 92">
            <a:extLst>
              <a:ext uri="{FF2B5EF4-FFF2-40B4-BE49-F238E27FC236}">
                <a16:creationId xmlns:a16="http://schemas.microsoft.com/office/drawing/2014/main" id="{9566A63C-67CF-3482-D48A-F358CEC438D8}"/>
              </a:ext>
            </a:extLst>
          </p:cNvPr>
          <p:cNvGrpSpPr/>
          <p:nvPr/>
        </p:nvGrpSpPr>
        <p:grpSpPr>
          <a:xfrm>
            <a:off x="1916429" y="4276535"/>
            <a:ext cx="1417320" cy="347472"/>
            <a:chOff x="1920240" y="3035808"/>
            <a:chExt cx="1417320" cy="347472"/>
          </a:xfrm>
        </p:grpSpPr>
        <p:sp>
          <p:nvSpPr>
            <p:cNvPr id="47" name="Shape 45"/>
            <p:cNvSpPr/>
            <p:nvPr/>
          </p:nvSpPr>
          <p:spPr>
            <a:xfrm>
              <a:off x="1920240" y="3035808"/>
              <a:ext cx="1417320" cy="347472"/>
            </a:xfrm>
            <a:prstGeom prst="roundRect">
              <a:avLst>
                <a:gd name="adj" fmla="val 21053"/>
              </a:avLst>
            </a:prstGeom>
            <a:solidFill>
              <a:srgbClr val="922B21"/>
            </a:solidFill>
            <a:ln w="12700">
              <a:solidFill>
                <a:srgbClr val="922B21"/>
              </a:solidFill>
              <a:prstDash val="solid"/>
            </a:ln>
          </p:spPr>
          <p:txBody>
            <a:bodyPr/>
            <a:lstStyle/>
            <a:p>
              <a:endParaRPr lang="en-US"/>
            </a:p>
          </p:txBody>
        </p:sp>
        <p:sp>
          <p:nvSpPr>
            <p:cNvPr id="48" name="Text 46"/>
            <p:cNvSpPr/>
            <p:nvPr/>
          </p:nvSpPr>
          <p:spPr>
            <a:xfrm>
              <a:off x="1965960" y="3035808"/>
              <a:ext cx="1325880" cy="347472"/>
            </a:xfrm>
            <a:prstGeom prst="rect">
              <a:avLst/>
            </a:prstGeom>
            <a:noFill/>
            <a:ln/>
          </p:spPr>
          <p:txBody>
            <a:bodyPr wrap="square" lIns="50800" tIns="50800" rIns="50800" bIns="50800" rtlCol="0" anchor="ctr"/>
            <a:lstStyle/>
            <a:p>
              <a:pPr marL="0" indent="0" algn="ctr">
                <a:buNone/>
              </a:pPr>
              <a:r>
                <a:rPr lang="en-US" sz="950" b="1">
                  <a:solidFill>
                    <a:srgbClr val="FFFFFF"/>
                  </a:solidFill>
                </a:rPr>
                <a:t>Dashboard</a:t>
              </a:r>
              <a:endParaRPr lang="en-US" sz="950"/>
            </a:p>
          </p:txBody>
        </p:sp>
      </p:grpSp>
      <p:sp>
        <p:nvSpPr>
          <p:cNvPr id="49" name="Shape 47"/>
          <p:cNvSpPr/>
          <p:nvPr/>
        </p:nvSpPr>
        <p:spPr>
          <a:xfrm>
            <a:off x="3657600" y="804672"/>
            <a:ext cx="1417320" cy="566928"/>
          </a:xfrm>
          <a:prstGeom prst="roundRect">
            <a:avLst>
              <a:gd name="adj" fmla="val 12903"/>
            </a:avLst>
          </a:prstGeom>
          <a:solidFill>
            <a:srgbClr val="0E6655"/>
          </a:solidFill>
          <a:ln w="12700">
            <a:solidFill>
              <a:srgbClr val="0E6655"/>
            </a:solidFill>
            <a:prstDash val="solid"/>
          </a:ln>
        </p:spPr>
        <p:txBody>
          <a:bodyPr/>
          <a:lstStyle/>
          <a:p>
            <a:endParaRPr lang="en-US"/>
          </a:p>
        </p:txBody>
      </p:sp>
      <p:sp>
        <p:nvSpPr>
          <p:cNvPr id="50" name="Text 48"/>
          <p:cNvSpPr/>
          <p:nvPr/>
        </p:nvSpPr>
        <p:spPr>
          <a:xfrm>
            <a:off x="3703320" y="804672"/>
            <a:ext cx="1325880" cy="566928"/>
          </a:xfrm>
          <a:prstGeom prst="rect">
            <a:avLst/>
          </a:prstGeom>
          <a:noFill/>
          <a:ln/>
        </p:spPr>
        <p:txBody>
          <a:bodyPr wrap="square" lIns="50800" tIns="50800" rIns="50800" bIns="50800" rtlCol="0" anchor="ctr"/>
          <a:lstStyle/>
          <a:p>
            <a:pPr marL="0" indent="0" algn="ctr">
              <a:buNone/>
            </a:pPr>
            <a:r>
              <a:rPr lang="en-US" sz="900" b="1">
                <a:solidFill>
                  <a:srgbClr val="FFFFFF"/>
                </a:solidFill>
              </a:rPr>
              <a:t>Hub Team</a:t>
            </a:r>
            <a:endParaRPr lang="en-US" sz="900"/>
          </a:p>
          <a:p>
            <a:pPr marL="0" indent="0" algn="ctr">
              <a:buNone/>
            </a:pPr>
            <a:r>
              <a:rPr lang="en-US" sz="750">
                <a:solidFill>
                  <a:srgbClr val="FFFFFF"/>
                </a:solidFill>
              </a:rPr>
              <a:t>College Dirs · UCM Facilitator</a:t>
            </a:r>
            <a:endParaRPr lang="en-US" sz="900"/>
          </a:p>
          <a:p>
            <a:pPr marL="0" indent="0" algn="ctr">
              <a:buNone/>
            </a:pPr>
            <a:r>
              <a:rPr lang="en-US" sz="750">
                <a:solidFill>
                  <a:srgbClr val="FFFFFF"/>
                </a:solidFill>
              </a:rPr>
              <a:t>Regional Specialists · Channel Master · Mgmt</a:t>
            </a:r>
            <a:endParaRPr lang="en-US" sz="900"/>
          </a:p>
        </p:txBody>
      </p:sp>
      <p:sp>
        <p:nvSpPr>
          <p:cNvPr id="51" name="Shape 49"/>
          <p:cNvSpPr/>
          <p:nvPr/>
        </p:nvSpPr>
        <p:spPr>
          <a:xfrm>
            <a:off x="4366260" y="1371600"/>
            <a:ext cx="0" cy="182880"/>
          </a:xfrm>
          <a:prstGeom prst="line">
            <a:avLst/>
          </a:prstGeom>
          <a:noFill/>
          <a:ln w="19050">
            <a:solidFill>
              <a:srgbClr val="7F8C8D"/>
            </a:solidFill>
            <a:prstDash val="solid"/>
            <a:tailEnd type="arrow"/>
          </a:ln>
        </p:spPr>
        <p:txBody>
          <a:bodyPr/>
          <a:lstStyle/>
          <a:p>
            <a:endParaRPr lang="en-US"/>
          </a:p>
        </p:txBody>
      </p:sp>
      <p:sp>
        <p:nvSpPr>
          <p:cNvPr id="52" name="Shape 50"/>
          <p:cNvSpPr/>
          <p:nvPr/>
        </p:nvSpPr>
        <p:spPr>
          <a:xfrm>
            <a:off x="3657600" y="1572768"/>
            <a:ext cx="1417320" cy="502920"/>
          </a:xfrm>
          <a:prstGeom prst="roundRect">
            <a:avLst>
              <a:gd name="adj" fmla="val 14545"/>
            </a:avLst>
          </a:prstGeom>
          <a:solidFill>
            <a:srgbClr val="117A65"/>
          </a:solidFill>
          <a:ln w="12700">
            <a:solidFill>
              <a:srgbClr val="117A65"/>
            </a:solidFill>
            <a:prstDash val="solid"/>
          </a:ln>
        </p:spPr>
        <p:txBody>
          <a:bodyPr/>
          <a:lstStyle/>
          <a:p>
            <a:endParaRPr lang="en-US"/>
          </a:p>
        </p:txBody>
      </p:sp>
      <p:sp>
        <p:nvSpPr>
          <p:cNvPr id="53" name="Text 51"/>
          <p:cNvSpPr/>
          <p:nvPr/>
        </p:nvSpPr>
        <p:spPr>
          <a:xfrm>
            <a:off x="3703320" y="1572768"/>
            <a:ext cx="1325880" cy="502920"/>
          </a:xfrm>
          <a:prstGeom prst="rect">
            <a:avLst/>
          </a:prstGeom>
          <a:noFill/>
          <a:ln/>
        </p:spPr>
        <p:txBody>
          <a:bodyPr wrap="square" lIns="50800" tIns="50800" rIns="50800" bIns="50800" rtlCol="0" anchor="ctr"/>
          <a:lstStyle/>
          <a:p>
            <a:pPr marL="0" indent="0" algn="ctr">
              <a:buNone/>
            </a:pPr>
            <a:r>
              <a:rPr lang="en-US" sz="950" b="1">
                <a:solidFill>
                  <a:srgbClr val="FFFFFF"/>
                </a:solidFill>
              </a:rPr>
              <a:t>GKR Tool / Guide</a:t>
            </a:r>
            <a:endParaRPr lang="en-US" sz="950"/>
          </a:p>
          <a:p>
            <a:pPr marL="0" indent="0" algn="ctr">
              <a:buNone/>
            </a:pPr>
            <a:r>
              <a:rPr lang="en-US" sz="800">
                <a:solidFill>
                  <a:srgbClr val="FFFFFF"/>
                </a:solidFill>
              </a:rPr>
              <a:t>Captures content plan in uniform format</a:t>
            </a:r>
            <a:endParaRPr lang="en-US" sz="950"/>
          </a:p>
        </p:txBody>
      </p:sp>
      <p:sp>
        <p:nvSpPr>
          <p:cNvPr id="54" name="Shape 52"/>
          <p:cNvSpPr/>
          <p:nvPr/>
        </p:nvSpPr>
        <p:spPr>
          <a:xfrm>
            <a:off x="4366260" y="2075688"/>
            <a:ext cx="0" cy="182880"/>
          </a:xfrm>
          <a:prstGeom prst="line">
            <a:avLst/>
          </a:prstGeom>
          <a:noFill/>
          <a:ln w="19050">
            <a:solidFill>
              <a:srgbClr val="7F8C8D"/>
            </a:solidFill>
            <a:prstDash val="solid"/>
            <a:tailEnd type="arrow"/>
          </a:ln>
        </p:spPr>
        <p:txBody>
          <a:bodyPr/>
          <a:lstStyle/>
          <a:p>
            <a:endParaRPr lang="en-US"/>
          </a:p>
        </p:txBody>
      </p:sp>
      <p:sp>
        <p:nvSpPr>
          <p:cNvPr id="55" name="Shape 53"/>
          <p:cNvSpPr/>
          <p:nvPr/>
        </p:nvSpPr>
        <p:spPr>
          <a:xfrm>
            <a:off x="3657600" y="2276856"/>
            <a:ext cx="1417320" cy="411480"/>
          </a:xfrm>
          <a:prstGeom prst="roundRect">
            <a:avLst>
              <a:gd name="adj" fmla="val 17778"/>
            </a:avLst>
          </a:prstGeom>
          <a:solidFill>
            <a:srgbClr val="0A7D6C"/>
          </a:solidFill>
          <a:ln w="12700">
            <a:solidFill>
              <a:srgbClr val="0A7D6C"/>
            </a:solidFill>
            <a:prstDash val="solid"/>
          </a:ln>
        </p:spPr>
        <p:txBody>
          <a:bodyPr/>
          <a:lstStyle/>
          <a:p>
            <a:endParaRPr lang="en-US"/>
          </a:p>
        </p:txBody>
      </p:sp>
      <p:sp>
        <p:nvSpPr>
          <p:cNvPr id="56" name="Text 54"/>
          <p:cNvSpPr/>
          <p:nvPr/>
        </p:nvSpPr>
        <p:spPr>
          <a:xfrm>
            <a:off x="3703320" y="2276856"/>
            <a:ext cx="1325880" cy="411480"/>
          </a:xfrm>
          <a:prstGeom prst="rect">
            <a:avLst/>
          </a:prstGeom>
          <a:noFill/>
          <a:ln/>
        </p:spPr>
        <p:txBody>
          <a:bodyPr wrap="square" lIns="50800" tIns="50800" rIns="50800" bIns="50800" rtlCol="0" anchor="ctr"/>
          <a:lstStyle/>
          <a:p>
            <a:pPr marL="0" indent="0" algn="ctr">
              <a:buNone/>
            </a:pPr>
            <a:r>
              <a:rPr lang="en-US" sz="950" b="1">
                <a:solidFill>
                  <a:srgbClr val="FFFFFF"/>
                </a:solidFill>
              </a:rPr>
              <a:t>AI Planning Layer</a:t>
            </a:r>
            <a:endParaRPr lang="en-US" sz="950"/>
          </a:p>
          <a:p>
            <a:pPr marL="0" indent="0" algn="ctr">
              <a:buNone/>
            </a:pPr>
            <a:r>
              <a:rPr lang="en-US" sz="800">
                <a:solidFill>
                  <a:srgbClr val="FFFFFF"/>
                </a:solidFill>
              </a:rPr>
              <a:t>Agenda · Transcription · Summaries</a:t>
            </a:r>
            <a:endParaRPr lang="en-US" sz="950"/>
          </a:p>
        </p:txBody>
      </p:sp>
      <p:sp>
        <p:nvSpPr>
          <p:cNvPr id="57" name="Shape 55"/>
          <p:cNvSpPr/>
          <p:nvPr/>
        </p:nvSpPr>
        <p:spPr>
          <a:xfrm>
            <a:off x="4366260" y="2688336"/>
            <a:ext cx="0" cy="182880"/>
          </a:xfrm>
          <a:prstGeom prst="line">
            <a:avLst/>
          </a:prstGeom>
          <a:noFill/>
          <a:ln w="19050">
            <a:solidFill>
              <a:srgbClr val="7F8C8D"/>
            </a:solidFill>
            <a:prstDash val="solid"/>
            <a:tailEnd type="arrow"/>
          </a:ln>
        </p:spPr>
        <p:txBody>
          <a:bodyPr/>
          <a:lstStyle/>
          <a:p>
            <a:endParaRPr lang="en-US"/>
          </a:p>
        </p:txBody>
      </p:sp>
      <p:sp>
        <p:nvSpPr>
          <p:cNvPr id="58" name="Shape 56"/>
          <p:cNvSpPr/>
          <p:nvPr/>
        </p:nvSpPr>
        <p:spPr>
          <a:xfrm>
            <a:off x="3657600" y="2889504"/>
            <a:ext cx="1417320" cy="502920"/>
          </a:xfrm>
          <a:prstGeom prst="roundRect">
            <a:avLst>
              <a:gd name="adj" fmla="val 14545"/>
            </a:avLst>
          </a:prstGeom>
          <a:solidFill>
            <a:srgbClr val="0E6655"/>
          </a:solidFill>
          <a:ln w="12700">
            <a:solidFill>
              <a:srgbClr val="0E6655"/>
            </a:solidFill>
            <a:prstDash val="solid"/>
          </a:ln>
        </p:spPr>
        <p:txBody>
          <a:bodyPr/>
          <a:lstStyle/>
          <a:p>
            <a:endParaRPr lang="en-US"/>
          </a:p>
        </p:txBody>
      </p:sp>
      <p:sp>
        <p:nvSpPr>
          <p:cNvPr id="59" name="Text 57"/>
          <p:cNvSpPr/>
          <p:nvPr/>
        </p:nvSpPr>
        <p:spPr>
          <a:xfrm>
            <a:off x="3703320" y="2889504"/>
            <a:ext cx="1325880" cy="502920"/>
          </a:xfrm>
          <a:prstGeom prst="rect">
            <a:avLst/>
          </a:prstGeom>
          <a:noFill/>
          <a:ln/>
        </p:spPr>
        <p:txBody>
          <a:bodyPr wrap="square" lIns="50800" tIns="50800" rIns="50800" bIns="50800" rtlCol="0" anchor="ctr"/>
          <a:lstStyle/>
          <a:p>
            <a:pPr marL="0" indent="0" algn="ctr">
              <a:buNone/>
            </a:pPr>
            <a:r>
              <a:rPr lang="en-US" sz="900" b="1">
                <a:solidFill>
                  <a:srgbClr val="FFFFFF"/>
                </a:solidFill>
              </a:rPr>
              <a:t>Content Calendar Handoff</a:t>
            </a:r>
            <a:endParaRPr lang="en-US" sz="900"/>
          </a:p>
          <a:p>
            <a:pPr marL="0" indent="0" algn="ctr">
              <a:buNone/>
            </a:pPr>
            <a:r>
              <a:rPr lang="en-US" sz="750">
                <a:solidFill>
                  <a:srgbClr val="FFFFFF"/>
                </a:solidFill>
              </a:rPr>
              <a:t>Jan plan → Mar finalize → Jun review → Aug cycle</a:t>
            </a:r>
            <a:endParaRPr lang="en-US" sz="900"/>
          </a:p>
        </p:txBody>
      </p:sp>
      <p:sp>
        <p:nvSpPr>
          <p:cNvPr id="60" name="Shape 58"/>
          <p:cNvSpPr/>
          <p:nvPr/>
        </p:nvSpPr>
        <p:spPr>
          <a:xfrm>
            <a:off x="5394960" y="804672"/>
            <a:ext cx="1463040" cy="594360"/>
          </a:xfrm>
          <a:prstGeom prst="roundRect">
            <a:avLst>
              <a:gd name="adj" fmla="val 12308"/>
            </a:avLst>
          </a:prstGeom>
          <a:solidFill>
            <a:srgbClr val="512E5F"/>
          </a:solidFill>
          <a:ln w="12700">
            <a:solidFill>
              <a:srgbClr val="512E5F"/>
            </a:solidFill>
            <a:prstDash val="solid"/>
          </a:ln>
        </p:spPr>
        <p:txBody>
          <a:bodyPr/>
          <a:lstStyle/>
          <a:p>
            <a:endParaRPr lang="en-US"/>
          </a:p>
        </p:txBody>
      </p:sp>
      <p:sp>
        <p:nvSpPr>
          <p:cNvPr id="61" name="Text 59"/>
          <p:cNvSpPr/>
          <p:nvPr/>
        </p:nvSpPr>
        <p:spPr>
          <a:xfrm>
            <a:off x="5440680" y="804672"/>
            <a:ext cx="1371600" cy="594360"/>
          </a:xfrm>
          <a:prstGeom prst="rect">
            <a:avLst/>
          </a:prstGeom>
          <a:noFill/>
          <a:ln/>
        </p:spPr>
        <p:txBody>
          <a:bodyPr wrap="square" lIns="50800" tIns="50800" rIns="50800" bIns="50800" rtlCol="0" anchor="ctr"/>
          <a:lstStyle/>
          <a:p>
            <a:pPr marL="0" indent="0" algn="ctr">
              <a:buNone/>
            </a:pPr>
            <a:r>
              <a:rPr lang="en-US" sz="950" b="1">
                <a:solidFill>
                  <a:srgbClr val="FFFFFF"/>
                </a:solidFill>
              </a:rPr>
              <a:t>Resource Portal</a:t>
            </a:r>
            <a:endParaRPr lang="en-US" sz="950"/>
          </a:p>
          <a:p>
            <a:pPr marL="0" indent="0" algn="ctr">
              <a:buNone/>
            </a:pPr>
            <a:r>
              <a:rPr lang="en-US" sz="800">
                <a:solidFill>
                  <a:srgbClr val="FFFFFF"/>
                </a:solidFill>
              </a:rPr>
              <a:t>Templates · Training</a:t>
            </a:r>
            <a:endParaRPr lang="en-US" sz="950"/>
          </a:p>
        </p:txBody>
      </p:sp>
      <p:sp>
        <p:nvSpPr>
          <p:cNvPr id="62" name="Shape 60"/>
          <p:cNvSpPr/>
          <p:nvPr/>
        </p:nvSpPr>
        <p:spPr>
          <a:xfrm>
            <a:off x="6995160" y="804672"/>
            <a:ext cx="1463040" cy="594360"/>
          </a:xfrm>
          <a:prstGeom prst="roundRect">
            <a:avLst>
              <a:gd name="adj" fmla="val 12308"/>
            </a:avLst>
          </a:prstGeom>
          <a:solidFill>
            <a:srgbClr val="6C3483"/>
          </a:solidFill>
          <a:ln w="12700">
            <a:solidFill>
              <a:srgbClr val="6C3483"/>
            </a:solidFill>
            <a:prstDash val="solid"/>
          </a:ln>
        </p:spPr>
        <p:txBody>
          <a:bodyPr/>
          <a:lstStyle/>
          <a:p>
            <a:endParaRPr lang="en-US"/>
          </a:p>
        </p:txBody>
      </p:sp>
      <p:sp>
        <p:nvSpPr>
          <p:cNvPr id="63" name="Text 61"/>
          <p:cNvSpPr/>
          <p:nvPr/>
        </p:nvSpPr>
        <p:spPr>
          <a:xfrm>
            <a:off x="7040880" y="804672"/>
            <a:ext cx="1371600" cy="594360"/>
          </a:xfrm>
          <a:prstGeom prst="rect">
            <a:avLst/>
          </a:prstGeom>
          <a:noFill/>
          <a:ln/>
        </p:spPr>
        <p:txBody>
          <a:bodyPr wrap="square" lIns="50800" tIns="50800" rIns="50800" bIns="50800" rtlCol="0" anchor="ctr"/>
          <a:lstStyle/>
          <a:p>
            <a:pPr marL="0" indent="0" algn="ctr">
              <a:buNone/>
            </a:pPr>
            <a:r>
              <a:rPr lang="en-US" sz="950" b="1">
                <a:solidFill>
                  <a:srgbClr val="FFFFFF"/>
                </a:solidFill>
              </a:rPr>
              <a:t>College Distinctiveness</a:t>
            </a:r>
            <a:endParaRPr lang="en-US" sz="950"/>
          </a:p>
          <a:p>
            <a:pPr marL="0" indent="0" algn="ctr">
              <a:buNone/>
            </a:pPr>
            <a:r>
              <a:rPr lang="en-US" sz="800">
                <a:solidFill>
                  <a:srgbClr val="FFFFFF"/>
                </a:solidFill>
              </a:rPr>
              <a:t>Brand expression · VIBE</a:t>
            </a:r>
            <a:endParaRPr lang="en-US" sz="950"/>
          </a:p>
        </p:txBody>
      </p:sp>
      <p:sp>
        <p:nvSpPr>
          <p:cNvPr id="64" name="Text 62"/>
          <p:cNvSpPr/>
          <p:nvPr/>
        </p:nvSpPr>
        <p:spPr>
          <a:xfrm>
            <a:off x="5394960" y="1463040"/>
            <a:ext cx="3063240" cy="228600"/>
          </a:xfrm>
          <a:prstGeom prst="rect">
            <a:avLst/>
          </a:prstGeom>
          <a:noFill/>
          <a:ln/>
        </p:spPr>
        <p:txBody>
          <a:bodyPr wrap="square" rtlCol="0" anchor="ctr"/>
          <a:lstStyle/>
          <a:p>
            <a:pPr marL="0" indent="0" algn="ctr">
              <a:buNone/>
            </a:pPr>
            <a:r>
              <a:rPr lang="en-US" sz="800" i="1">
                <a:solidFill>
                  <a:srgbClr val="7F8C8D"/>
                </a:solidFill>
              </a:rPr>
              <a:t>feeds into hub team creative direction</a:t>
            </a:r>
            <a:endParaRPr lang="en-US" sz="800"/>
          </a:p>
        </p:txBody>
      </p:sp>
      <p:sp>
        <p:nvSpPr>
          <p:cNvPr id="65" name="Shape 63"/>
          <p:cNvSpPr/>
          <p:nvPr/>
        </p:nvSpPr>
        <p:spPr>
          <a:xfrm>
            <a:off x="8732520" y="804672"/>
            <a:ext cx="1463040" cy="548640"/>
          </a:xfrm>
          <a:prstGeom prst="roundRect">
            <a:avLst>
              <a:gd name="adj" fmla="val 13333"/>
            </a:avLst>
          </a:prstGeom>
          <a:solidFill>
            <a:srgbClr val="784212"/>
          </a:solidFill>
          <a:ln w="12700">
            <a:solidFill>
              <a:srgbClr val="784212"/>
            </a:solidFill>
            <a:prstDash val="solid"/>
          </a:ln>
        </p:spPr>
        <p:txBody>
          <a:bodyPr/>
          <a:lstStyle/>
          <a:p>
            <a:endParaRPr lang="en-US"/>
          </a:p>
        </p:txBody>
      </p:sp>
      <p:sp>
        <p:nvSpPr>
          <p:cNvPr id="66" name="Text 64"/>
          <p:cNvSpPr/>
          <p:nvPr/>
        </p:nvSpPr>
        <p:spPr>
          <a:xfrm>
            <a:off x="8778240" y="804672"/>
            <a:ext cx="1371600" cy="548640"/>
          </a:xfrm>
          <a:prstGeom prst="rect">
            <a:avLst/>
          </a:prstGeom>
          <a:noFill/>
          <a:ln/>
        </p:spPr>
        <p:txBody>
          <a:bodyPr wrap="square" lIns="50800" tIns="50800" rIns="50800" bIns="50800" rtlCol="0" anchor="ctr"/>
          <a:lstStyle/>
          <a:p>
            <a:pPr marL="0" indent="0" algn="ctr">
              <a:buNone/>
            </a:pPr>
            <a:r>
              <a:rPr lang="en-US" sz="950" b="1">
                <a:solidFill>
                  <a:srgbClr val="FFFFFF"/>
                </a:solidFill>
              </a:rPr>
              <a:t>The Regionals</a:t>
            </a:r>
            <a:endParaRPr lang="en-US" sz="950"/>
          </a:p>
          <a:p>
            <a:pPr marL="0" indent="0" algn="ctr">
              <a:buNone/>
            </a:pPr>
            <a:r>
              <a:rPr lang="en-US" sz="800">
                <a:solidFill>
                  <a:srgbClr val="FFFFFF"/>
                </a:solidFill>
              </a:rPr>
              <a:t>One Kent State</a:t>
            </a:r>
            <a:endParaRPr lang="en-US" sz="950"/>
          </a:p>
        </p:txBody>
      </p:sp>
      <p:sp>
        <p:nvSpPr>
          <p:cNvPr id="67" name="Shape 65"/>
          <p:cNvSpPr/>
          <p:nvPr/>
        </p:nvSpPr>
        <p:spPr>
          <a:xfrm>
            <a:off x="10332720" y="804672"/>
            <a:ext cx="1463040" cy="548640"/>
          </a:xfrm>
          <a:prstGeom prst="roundRect">
            <a:avLst>
              <a:gd name="adj" fmla="val 13333"/>
            </a:avLst>
          </a:prstGeom>
          <a:solidFill>
            <a:srgbClr val="935116"/>
          </a:solidFill>
          <a:ln w="12700">
            <a:solidFill>
              <a:srgbClr val="935116"/>
            </a:solidFill>
            <a:prstDash val="solid"/>
          </a:ln>
        </p:spPr>
        <p:txBody>
          <a:bodyPr/>
          <a:lstStyle/>
          <a:p>
            <a:endParaRPr lang="en-US"/>
          </a:p>
        </p:txBody>
      </p:sp>
      <p:sp>
        <p:nvSpPr>
          <p:cNvPr id="68" name="Text 66"/>
          <p:cNvSpPr/>
          <p:nvPr/>
        </p:nvSpPr>
        <p:spPr>
          <a:xfrm>
            <a:off x="10378440" y="804672"/>
            <a:ext cx="1371600" cy="548640"/>
          </a:xfrm>
          <a:prstGeom prst="rect">
            <a:avLst/>
          </a:prstGeom>
          <a:noFill/>
          <a:ln/>
        </p:spPr>
        <p:txBody>
          <a:bodyPr wrap="square" lIns="50800" tIns="50800" rIns="50800" bIns="50800" rtlCol="0" anchor="ctr"/>
          <a:lstStyle/>
          <a:p>
            <a:pPr marL="0" indent="0" algn="ctr">
              <a:buNone/>
            </a:pPr>
            <a:r>
              <a:rPr lang="en-US" sz="950" b="1">
                <a:solidFill>
                  <a:srgbClr val="FFFFFF"/>
                </a:solidFill>
              </a:rPr>
              <a:t>Enrollment Marketing</a:t>
            </a:r>
            <a:endParaRPr lang="en-US" sz="950"/>
          </a:p>
          <a:p>
            <a:pPr marL="0" indent="0" algn="ctr">
              <a:buNone/>
            </a:pPr>
            <a:r>
              <a:rPr lang="en-US" sz="800">
                <a:solidFill>
                  <a:srgbClr val="FFFFFF"/>
                </a:solidFill>
              </a:rPr>
              <a:t>EM collaboration</a:t>
            </a:r>
            <a:endParaRPr lang="en-US" sz="950"/>
          </a:p>
        </p:txBody>
      </p:sp>
      <p:sp>
        <p:nvSpPr>
          <p:cNvPr id="69" name="Shape 67"/>
          <p:cNvSpPr/>
          <p:nvPr/>
        </p:nvSpPr>
        <p:spPr>
          <a:xfrm>
            <a:off x="8732520" y="1481328"/>
            <a:ext cx="1463040" cy="548640"/>
          </a:xfrm>
          <a:prstGeom prst="roundRect">
            <a:avLst>
              <a:gd name="adj" fmla="val 13333"/>
            </a:avLst>
          </a:prstGeom>
          <a:solidFill>
            <a:srgbClr val="784212"/>
          </a:solidFill>
          <a:ln w="12700">
            <a:solidFill>
              <a:srgbClr val="784212"/>
            </a:solidFill>
            <a:prstDash val="solid"/>
          </a:ln>
        </p:spPr>
        <p:txBody>
          <a:bodyPr/>
          <a:lstStyle/>
          <a:p>
            <a:endParaRPr lang="en-US"/>
          </a:p>
        </p:txBody>
      </p:sp>
      <p:sp>
        <p:nvSpPr>
          <p:cNvPr id="70" name="Text 68"/>
          <p:cNvSpPr/>
          <p:nvPr/>
        </p:nvSpPr>
        <p:spPr>
          <a:xfrm>
            <a:off x="8778240" y="1481328"/>
            <a:ext cx="1371600" cy="548640"/>
          </a:xfrm>
          <a:prstGeom prst="rect">
            <a:avLst/>
          </a:prstGeom>
          <a:noFill/>
          <a:ln/>
        </p:spPr>
        <p:txBody>
          <a:bodyPr wrap="square" lIns="50800" tIns="50800" rIns="50800" bIns="50800" rtlCol="0" anchor="ctr"/>
          <a:lstStyle/>
          <a:p>
            <a:pPr marL="0" indent="0" algn="ctr">
              <a:buNone/>
            </a:pPr>
            <a:r>
              <a:rPr lang="en-US" sz="950" b="1">
                <a:solidFill>
                  <a:srgbClr val="FFFFFF"/>
                </a:solidFill>
              </a:rPr>
              <a:t>Retention</a:t>
            </a:r>
            <a:endParaRPr lang="en-US" sz="950"/>
          </a:p>
        </p:txBody>
      </p:sp>
      <p:sp>
        <p:nvSpPr>
          <p:cNvPr id="71" name="Shape 69"/>
          <p:cNvSpPr/>
          <p:nvPr/>
        </p:nvSpPr>
        <p:spPr>
          <a:xfrm>
            <a:off x="10332720" y="1481328"/>
            <a:ext cx="1463040" cy="548640"/>
          </a:xfrm>
          <a:prstGeom prst="roundRect">
            <a:avLst>
              <a:gd name="adj" fmla="val 13333"/>
            </a:avLst>
          </a:prstGeom>
          <a:solidFill>
            <a:srgbClr val="6E2F0A"/>
          </a:solidFill>
          <a:ln w="12700">
            <a:solidFill>
              <a:srgbClr val="6E2F0A"/>
            </a:solidFill>
            <a:prstDash val="solid"/>
          </a:ln>
        </p:spPr>
        <p:txBody>
          <a:bodyPr/>
          <a:lstStyle/>
          <a:p>
            <a:endParaRPr lang="en-US"/>
          </a:p>
        </p:txBody>
      </p:sp>
      <p:sp>
        <p:nvSpPr>
          <p:cNvPr id="72" name="Text 70"/>
          <p:cNvSpPr/>
          <p:nvPr/>
        </p:nvSpPr>
        <p:spPr>
          <a:xfrm>
            <a:off x="10378440" y="1481328"/>
            <a:ext cx="1371600" cy="548640"/>
          </a:xfrm>
          <a:prstGeom prst="rect">
            <a:avLst/>
          </a:prstGeom>
          <a:noFill/>
          <a:ln/>
        </p:spPr>
        <p:txBody>
          <a:bodyPr wrap="square" lIns="50800" tIns="50800" rIns="50800" bIns="50800" rtlCol="0" anchor="ctr"/>
          <a:lstStyle/>
          <a:p>
            <a:pPr marL="0" indent="0" algn="ctr">
              <a:buNone/>
            </a:pPr>
            <a:r>
              <a:rPr lang="en-US" sz="950" b="1">
                <a:solidFill>
                  <a:srgbClr val="FFFFFF"/>
                </a:solidFill>
              </a:rPr>
              <a:t>Element 451</a:t>
            </a:r>
            <a:endParaRPr lang="en-US" sz="950"/>
          </a:p>
        </p:txBody>
      </p:sp>
      <p:sp>
        <p:nvSpPr>
          <p:cNvPr id="73" name="Shape 71"/>
          <p:cNvSpPr/>
          <p:nvPr/>
        </p:nvSpPr>
        <p:spPr>
          <a:xfrm>
            <a:off x="198120" y="5559552"/>
            <a:ext cx="11795760" cy="256032"/>
          </a:xfrm>
          <a:prstGeom prst="rect">
            <a:avLst/>
          </a:prstGeom>
          <a:solidFill>
            <a:srgbClr val="FFF3CD"/>
          </a:solidFill>
          <a:ln w="12700">
            <a:solidFill>
              <a:srgbClr val="E9C46A"/>
            </a:solidFill>
            <a:prstDash val="solid"/>
          </a:ln>
        </p:spPr>
        <p:txBody>
          <a:bodyPr/>
          <a:lstStyle/>
          <a:p>
            <a:endParaRPr lang="en-US"/>
          </a:p>
        </p:txBody>
      </p:sp>
      <p:sp>
        <p:nvSpPr>
          <p:cNvPr id="74" name="Text 72"/>
          <p:cNvSpPr/>
          <p:nvPr/>
        </p:nvSpPr>
        <p:spPr>
          <a:xfrm>
            <a:off x="289560" y="5559552"/>
            <a:ext cx="11612880" cy="256032"/>
          </a:xfrm>
          <a:prstGeom prst="rect">
            <a:avLst/>
          </a:prstGeom>
          <a:noFill/>
          <a:ln/>
        </p:spPr>
        <p:txBody>
          <a:bodyPr wrap="none" lIns="38100" tIns="38100" rIns="38100" bIns="38100" rtlCol="0" anchor="ctr"/>
          <a:lstStyle/>
          <a:p>
            <a:pPr marL="0" indent="0">
              <a:buNone/>
            </a:pPr>
            <a:r>
              <a:rPr lang="en-US" sz="850" b="1">
                <a:solidFill>
                  <a:srgbClr val="856404"/>
                </a:solidFill>
              </a:rPr>
              <a:t>⚠  Open questions: </a:t>
            </a:r>
            <a:r>
              <a:rPr lang="en-US" sz="850">
                <a:solidFill>
                  <a:srgbClr val="555500"/>
                </a:solidFill>
              </a:rPr>
              <a:t>Hub structure (unified team or per-college teams?) · Where do outputs live? (SharePoint / Notion / Resource Portal?) · Facilitator load per hub · Student Life / homecoming fit · Theme team oversight owner at UCM</a:t>
            </a:r>
            <a:endParaRPr lang="en-US" sz="850"/>
          </a:p>
        </p:txBody>
      </p:sp>
      <p:sp>
        <p:nvSpPr>
          <p:cNvPr id="75" name="Text 73"/>
          <p:cNvSpPr/>
          <p:nvPr/>
        </p:nvSpPr>
        <p:spPr>
          <a:xfrm>
            <a:off x="198120" y="5943600"/>
            <a:ext cx="640080" cy="182880"/>
          </a:xfrm>
          <a:prstGeom prst="rect">
            <a:avLst/>
          </a:prstGeom>
          <a:noFill/>
          <a:ln/>
        </p:spPr>
        <p:txBody>
          <a:bodyPr wrap="square" lIns="0" tIns="0" rIns="0" bIns="0" rtlCol="0" anchor="ctr"/>
          <a:lstStyle/>
          <a:p>
            <a:pPr marL="0" indent="0">
              <a:buNone/>
            </a:pPr>
            <a:r>
              <a:rPr lang="en-US" sz="750" b="1" kern="0" spc="100">
                <a:solidFill>
                  <a:srgbClr val="7F8C8D"/>
                </a:solidFill>
              </a:rPr>
              <a:t>LEGEND</a:t>
            </a:r>
            <a:endParaRPr lang="en-US" sz="750"/>
          </a:p>
        </p:txBody>
      </p:sp>
      <p:sp>
        <p:nvSpPr>
          <p:cNvPr id="76" name="Shape 74"/>
          <p:cNvSpPr/>
          <p:nvPr/>
        </p:nvSpPr>
        <p:spPr>
          <a:xfrm>
            <a:off x="883920" y="5961888"/>
            <a:ext cx="201168" cy="146304"/>
          </a:xfrm>
          <a:prstGeom prst="rect">
            <a:avLst/>
          </a:prstGeom>
          <a:solidFill>
            <a:srgbClr val="1A5276"/>
          </a:solidFill>
          <a:ln w="12700">
            <a:solidFill>
              <a:srgbClr val="1A5276"/>
            </a:solidFill>
            <a:prstDash val="solid"/>
          </a:ln>
        </p:spPr>
        <p:txBody>
          <a:bodyPr/>
          <a:lstStyle/>
          <a:p>
            <a:endParaRPr lang="en-US"/>
          </a:p>
        </p:txBody>
      </p:sp>
      <p:sp>
        <p:nvSpPr>
          <p:cNvPr id="77" name="Text 75"/>
          <p:cNvSpPr/>
          <p:nvPr/>
        </p:nvSpPr>
        <p:spPr>
          <a:xfrm>
            <a:off x="1112520" y="5943600"/>
            <a:ext cx="1234440" cy="182880"/>
          </a:xfrm>
          <a:prstGeom prst="rect">
            <a:avLst/>
          </a:prstGeom>
          <a:noFill/>
          <a:ln/>
        </p:spPr>
        <p:txBody>
          <a:bodyPr wrap="square" lIns="0" tIns="0" rIns="0" bIns="0" rtlCol="0" anchor="ctr"/>
          <a:lstStyle/>
          <a:p>
            <a:pPr marL="0" indent="0">
              <a:buNone/>
            </a:pPr>
            <a:r>
              <a:rPr lang="en-US" sz="800">
                <a:solidFill>
                  <a:srgbClr val="2C3E50"/>
                </a:solidFill>
              </a:rPr>
              <a:t>Strategic Content</a:t>
            </a:r>
            <a:endParaRPr lang="en-US" sz="800"/>
          </a:p>
        </p:txBody>
      </p:sp>
      <p:sp>
        <p:nvSpPr>
          <p:cNvPr id="78" name="Shape 76"/>
          <p:cNvSpPr/>
          <p:nvPr/>
        </p:nvSpPr>
        <p:spPr>
          <a:xfrm>
            <a:off x="3078480" y="5961888"/>
            <a:ext cx="201168" cy="146304"/>
          </a:xfrm>
          <a:prstGeom prst="rect">
            <a:avLst/>
          </a:prstGeom>
          <a:solidFill>
            <a:srgbClr val="922B21"/>
          </a:solidFill>
          <a:ln w="12700">
            <a:solidFill>
              <a:srgbClr val="922B21"/>
            </a:solidFill>
            <a:prstDash val="solid"/>
          </a:ln>
        </p:spPr>
        <p:txBody>
          <a:bodyPr/>
          <a:lstStyle/>
          <a:p>
            <a:endParaRPr lang="en-US"/>
          </a:p>
        </p:txBody>
      </p:sp>
      <p:sp>
        <p:nvSpPr>
          <p:cNvPr id="79" name="Text 77"/>
          <p:cNvSpPr/>
          <p:nvPr/>
        </p:nvSpPr>
        <p:spPr>
          <a:xfrm>
            <a:off x="3307080" y="5943600"/>
            <a:ext cx="1234440" cy="182880"/>
          </a:xfrm>
          <a:prstGeom prst="rect">
            <a:avLst/>
          </a:prstGeom>
          <a:noFill/>
          <a:ln/>
        </p:spPr>
        <p:txBody>
          <a:bodyPr wrap="square" lIns="0" tIns="0" rIns="0" bIns="0" rtlCol="0" anchor="ctr"/>
          <a:lstStyle/>
          <a:p>
            <a:pPr marL="0" indent="0">
              <a:buNone/>
            </a:pPr>
            <a:r>
              <a:rPr lang="en-US" sz="800">
                <a:solidFill>
                  <a:srgbClr val="2C3E50"/>
                </a:solidFill>
              </a:rPr>
              <a:t>Daily News</a:t>
            </a:r>
            <a:endParaRPr lang="en-US" sz="800"/>
          </a:p>
        </p:txBody>
      </p:sp>
      <p:sp>
        <p:nvSpPr>
          <p:cNvPr id="80" name="Shape 78"/>
          <p:cNvSpPr/>
          <p:nvPr/>
        </p:nvSpPr>
        <p:spPr>
          <a:xfrm>
            <a:off x="5273040" y="5961888"/>
            <a:ext cx="201168" cy="146304"/>
          </a:xfrm>
          <a:prstGeom prst="rect">
            <a:avLst/>
          </a:prstGeom>
          <a:solidFill>
            <a:srgbClr val="0E6655"/>
          </a:solidFill>
          <a:ln w="12700">
            <a:solidFill>
              <a:srgbClr val="0E6655"/>
            </a:solidFill>
            <a:prstDash val="solid"/>
          </a:ln>
        </p:spPr>
        <p:txBody>
          <a:bodyPr/>
          <a:lstStyle/>
          <a:p>
            <a:endParaRPr lang="en-US"/>
          </a:p>
        </p:txBody>
      </p:sp>
      <p:sp>
        <p:nvSpPr>
          <p:cNvPr id="81" name="Text 79"/>
          <p:cNvSpPr/>
          <p:nvPr/>
        </p:nvSpPr>
        <p:spPr>
          <a:xfrm>
            <a:off x="5501640" y="5943600"/>
            <a:ext cx="1234440" cy="182880"/>
          </a:xfrm>
          <a:prstGeom prst="rect">
            <a:avLst/>
          </a:prstGeom>
          <a:noFill/>
          <a:ln/>
        </p:spPr>
        <p:txBody>
          <a:bodyPr wrap="square" lIns="0" tIns="0" rIns="0" bIns="0" rtlCol="0" anchor="ctr"/>
          <a:lstStyle/>
          <a:p>
            <a:pPr marL="0" indent="0">
              <a:buNone/>
            </a:pPr>
            <a:r>
              <a:rPr lang="en-US" sz="800">
                <a:solidFill>
                  <a:srgbClr val="2C3E50"/>
                </a:solidFill>
              </a:rPr>
              <a:t>Hub Team &amp; Guide</a:t>
            </a:r>
            <a:endParaRPr lang="en-US" sz="800"/>
          </a:p>
        </p:txBody>
      </p:sp>
      <p:sp>
        <p:nvSpPr>
          <p:cNvPr id="82" name="Shape 80"/>
          <p:cNvSpPr/>
          <p:nvPr/>
        </p:nvSpPr>
        <p:spPr>
          <a:xfrm>
            <a:off x="7467600" y="5961888"/>
            <a:ext cx="201168" cy="146304"/>
          </a:xfrm>
          <a:prstGeom prst="rect">
            <a:avLst/>
          </a:prstGeom>
          <a:solidFill>
            <a:srgbClr val="512E5F"/>
          </a:solidFill>
          <a:ln w="12700">
            <a:solidFill>
              <a:srgbClr val="512E5F"/>
            </a:solidFill>
            <a:prstDash val="solid"/>
          </a:ln>
        </p:spPr>
        <p:txBody>
          <a:bodyPr/>
          <a:lstStyle/>
          <a:p>
            <a:endParaRPr lang="en-US"/>
          </a:p>
        </p:txBody>
      </p:sp>
      <p:sp>
        <p:nvSpPr>
          <p:cNvPr id="83" name="Text 81"/>
          <p:cNvSpPr/>
          <p:nvPr/>
        </p:nvSpPr>
        <p:spPr>
          <a:xfrm>
            <a:off x="7696200" y="5943600"/>
            <a:ext cx="1234440" cy="182880"/>
          </a:xfrm>
          <a:prstGeom prst="rect">
            <a:avLst/>
          </a:prstGeom>
          <a:noFill/>
          <a:ln/>
        </p:spPr>
        <p:txBody>
          <a:bodyPr wrap="square" lIns="0" tIns="0" rIns="0" bIns="0" rtlCol="0" anchor="ctr"/>
          <a:lstStyle/>
          <a:p>
            <a:pPr marL="0" indent="0">
              <a:buNone/>
            </a:pPr>
            <a:r>
              <a:rPr lang="en-US" sz="800">
                <a:solidFill>
                  <a:srgbClr val="2C3E50"/>
                </a:solidFill>
              </a:rPr>
              <a:t>Resources</a:t>
            </a:r>
            <a:endParaRPr lang="en-US" sz="800"/>
          </a:p>
        </p:txBody>
      </p:sp>
      <p:sp>
        <p:nvSpPr>
          <p:cNvPr id="84" name="Shape 82"/>
          <p:cNvSpPr/>
          <p:nvPr/>
        </p:nvSpPr>
        <p:spPr>
          <a:xfrm>
            <a:off x="9662160" y="5961888"/>
            <a:ext cx="201168" cy="146304"/>
          </a:xfrm>
          <a:prstGeom prst="rect">
            <a:avLst/>
          </a:prstGeom>
          <a:solidFill>
            <a:srgbClr val="784212"/>
          </a:solidFill>
          <a:ln w="12700">
            <a:solidFill>
              <a:srgbClr val="784212"/>
            </a:solidFill>
            <a:prstDash val="solid"/>
          </a:ln>
        </p:spPr>
        <p:txBody>
          <a:bodyPr/>
          <a:lstStyle/>
          <a:p>
            <a:endParaRPr lang="en-US"/>
          </a:p>
        </p:txBody>
      </p:sp>
      <p:sp>
        <p:nvSpPr>
          <p:cNvPr id="85" name="Text 83"/>
          <p:cNvSpPr/>
          <p:nvPr/>
        </p:nvSpPr>
        <p:spPr>
          <a:xfrm>
            <a:off x="9890760" y="5943600"/>
            <a:ext cx="1234440" cy="182880"/>
          </a:xfrm>
          <a:prstGeom prst="rect">
            <a:avLst/>
          </a:prstGeom>
          <a:noFill/>
          <a:ln/>
        </p:spPr>
        <p:txBody>
          <a:bodyPr wrap="square" lIns="0" tIns="0" rIns="0" bIns="0" rtlCol="0" anchor="ctr"/>
          <a:lstStyle/>
          <a:p>
            <a:pPr marL="0" indent="0">
              <a:buNone/>
            </a:pPr>
            <a:r>
              <a:rPr lang="en-US" sz="800">
                <a:solidFill>
                  <a:srgbClr val="2C3E50"/>
                </a:solidFill>
              </a:rPr>
              <a:t>Other Areas</a:t>
            </a:r>
            <a:endParaRPr lang="en-US" sz="800"/>
          </a:p>
        </p:txBody>
      </p:sp>
      <p:sp>
        <p:nvSpPr>
          <p:cNvPr id="86" name="Shape 84"/>
          <p:cNvSpPr/>
          <p:nvPr/>
        </p:nvSpPr>
        <p:spPr>
          <a:xfrm>
            <a:off x="198120" y="6217920"/>
            <a:ext cx="11795760" cy="502920"/>
          </a:xfrm>
          <a:prstGeom prst="rect">
            <a:avLst/>
          </a:prstGeom>
          <a:solidFill>
            <a:srgbClr val="FFFFFF"/>
          </a:solidFill>
          <a:ln w="9525">
            <a:solidFill>
              <a:srgbClr val="D5D8DC"/>
            </a:solidFill>
            <a:prstDash val="solid"/>
          </a:ln>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17AF411-FBC9-BBED-31D1-3AE22222CBB9}"/>
              </a:ext>
            </a:extLst>
          </p:cNvPr>
          <p:cNvSpPr txBox="1"/>
          <p:nvPr/>
        </p:nvSpPr>
        <p:spPr>
          <a:xfrm>
            <a:off x="526211" y="362309"/>
            <a:ext cx="1581843" cy="461665"/>
          </a:xfrm>
          <a:prstGeom prst="rect">
            <a:avLst/>
          </a:prstGeom>
          <a:noFill/>
        </p:spPr>
        <p:txBody>
          <a:bodyPr wrap="none" rtlCol="0">
            <a:spAutoFit/>
          </a:bodyPr>
          <a:lstStyle/>
          <a:p>
            <a:r>
              <a:rPr lang="en-US" sz="2400" b="1"/>
              <a:t>Definitions</a:t>
            </a:r>
          </a:p>
        </p:txBody>
      </p:sp>
      <p:sp>
        <p:nvSpPr>
          <p:cNvPr id="3" name="TextBox 2">
            <a:extLst>
              <a:ext uri="{FF2B5EF4-FFF2-40B4-BE49-F238E27FC236}">
                <a16:creationId xmlns:a16="http://schemas.microsoft.com/office/drawing/2014/main" id="{2F46ABC8-7F4E-6326-DC33-931D1C4414A5}"/>
              </a:ext>
            </a:extLst>
          </p:cNvPr>
          <p:cNvSpPr txBox="1"/>
          <p:nvPr/>
        </p:nvSpPr>
        <p:spPr>
          <a:xfrm>
            <a:off x="526212" y="896814"/>
            <a:ext cx="11139578" cy="954107"/>
          </a:xfrm>
          <a:prstGeom prst="rect">
            <a:avLst/>
          </a:prstGeom>
          <a:noFill/>
        </p:spPr>
        <p:txBody>
          <a:bodyPr wrap="square" rtlCol="0">
            <a:spAutoFit/>
          </a:bodyPr>
          <a:lstStyle/>
          <a:p>
            <a:r>
              <a:rPr lang="en-US" sz="1400" b="1"/>
              <a:t>Hub Groups - </a:t>
            </a:r>
            <a:r>
              <a:rPr lang="en-US" sz="1400"/>
              <a:t>The institutional, college-facing layer of the structure. Hub groups work at the college level, developing content plans that address each college's specific priorities and enrollment needs. Described as "vertical" because they go deep into individual colleges. Each hub covers a cluster of colleges (Academic Affairs has organized colleges into roughly four hubs). There is ongoing ambiguity in the transcript about whether a hub is one unified team of UCM people plus all college directors within that hub, or whether it functions as several smaller pairings within the hub structure.</a:t>
            </a:r>
            <a:endParaRPr lang="en-US" sz="1400" b="1"/>
          </a:p>
        </p:txBody>
      </p:sp>
      <p:sp>
        <p:nvSpPr>
          <p:cNvPr id="4" name="TextBox 3">
            <a:extLst>
              <a:ext uri="{FF2B5EF4-FFF2-40B4-BE49-F238E27FC236}">
                <a16:creationId xmlns:a16="http://schemas.microsoft.com/office/drawing/2014/main" id="{945F1E88-4322-1601-76D1-968683AEE9C2}"/>
              </a:ext>
            </a:extLst>
          </p:cNvPr>
          <p:cNvSpPr txBox="1"/>
          <p:nvPr/>
        </p:nvSpPr>
        <p:spPr>
          <a:xfrm>
            <a:off x="473407" y="1945064"/>
            <a:ext cx="11245185" cy="954107"/>
          </a:xfrm>
          <a:prstGeom prst="rect">
            <a:avLst/>
          </a:prstGeom>
          <a:noFill/>
        </p:spPr>
        <p:txBody>
          <a:bodyPr wrap="square" rtlCol="0">
            <a:spAutoFit/>
          </a:bodyPr>
          <a:lstStyle/>
          <a:p>
            <a:r>
              <a:rPr lang="en-US" sz="1400" b="1"/>
              <a:t>Theme Teams (also called Theme Groups)</a:t>
            </a:r>
            <a:r>
              <a:rPr lang="en-US" sz="1400"/>
              <a:t> The strategic planning layer of UCM's content work. Theme teams operate at a university-wide level, cutting across multiple colleges to develop content that advances a shared topic area (current themes: Health, Design, Global). Their primary output is a strategic content plan. They are described as "horizontal" in that they go wide across the university. Theme teams are currently running first, before hub groups are fully stood up, though eventually the two will run in parallel.</a:t>
            </a:r>
            <a:endParaRPr lang="en-US" sz="1400" b="1"/>
          </a:p>
        </p:txBody>
      </p:sp>
      <p:sp>
        <p:nvSpPr>
          <p:cNvPr id="5" name="TextBox 4">
            <a:extLst>
              <a:ext uri="{FF2B5EF4-FFF2-40B4-BE49-F238E27FC236}">
                <a16:creationId xmlns:a16="http://schemas.microsoft.com/office/drawing/2014/main" id="{B0989659-2756-0342-9829-3943C2E47DBD}"/>
              </a:ext>
            </a:extLst>
          </p:cNvPr>
          <p:cNvSpPr txBox="1"/>
          <p:nvPr/>
        </p:nvSpPr>
        <p:spPr>
          <a:xfrm>
            <a:off x="473407" y="3004723"/>
            <a:ext cx="11245185" cy="523220"/>
          </a:xfrm>
          <a:prstGeom prst="rect">
            <a:avLst/>
          </a:prstGeom>
          <a:noFill/>
        </p:spPr>
        <p:txBody>
          <a:bodyPr wrap="square" rtlCol="0">
            <a:spAutoFit/>
          </a:bodyPr>
          <a:lstStyle/>
          <a:p>
            <a:r>
              <a:rPr lang="en-US" sz="1400" b="1"/>
              <a:t>College Directors (also referenced as College Points of Contact)</a:t>
            </a:r>
            <a:r>
              <a:rPr lang="en-US" sz="1400"/>
              <a:t> The marketing or communications representative within each college who participates in hub group meetings and serves as the liaison between the college and UCM's team.</a:t>
            </a:r>
            <a:endParaRPr lang="en-US" sz="1400" b="1"/>
          </a:p>
        </p:txBody>
      </p:sp>
      <p:sp>
        <p:nvSpPr>
          <p:cNvPr id="6" name="TextBox 5">
            <a:extLst>
              <a:ext uri="{FF2B5EF4-FFF2-40B4-BE49-F238E27FC236}">
                <a16:creationId xmlns:a16="http://schemas.microsoft.com/office/drawing/2014/main" id="{9FCDB340-1E52-A40F-0DC7-DE9EDA9914B5}"/>
              </a:ext>
            </a:extLst>
          </p:cNvPr>
          <p:cNvSpPr txBox="1"/>
          <p:nvPr/>
        </p:nvSpPr>
        <p:spPr>
          <a:xfrm>
            <a:off x="473406" y="3633495"/>
            <a:ext cx="11245185" cy="738664"/>
          </a:xfrm>
          <a:prstGeom prst="rect">
            <a:avLst/>
          </a:prstGeom>
          <a:noFill/>
        </p:spPr>
        <p:txBody>
          <a:bodyPr wrap="square" rtlCol="0">
            <a:spAutoFit/>
          </a:bodyPr>
          <a:lstStyle/>
          <a:p>
            <a:r>
              <a:rPr lang="en-US" sz="1400" b="1"/>
              <a:t>Channel Masters (also referenced as Eric's Team)</a:t>
            </a:r>
            <a:r>
              <a:rPr lang="en-US" sz="1400"/>
              <a:t> The UCM team responsible for channels: KSU Today, the magazine, social media, and web. After hub or theme teams produce strategic content recommendations, channel masters are the first stop for deciding how to calendar and distribute that content. Specific channels mentioned include KSU Today, the magazine, social and web.</a:t>
            </a:r>
            <a:endParaRPr lang="en-US" sz="1400" b="1"/>
          </a:p>
        </p:txBody>
      </p:sp>
      <p:sp>
        <p:nvSpPr>
          <p:cNvPr id="7" name="TextBox 6">
            <a:extLst>
              <a:ext uri="{FF2B5EF4-FFF2-40B4-BE49-F238E27FC236}">
                <a16:creationId xmlns:a16="http://schemas.microsoft.com/office/drawing/2014/main" id="{0ED6838B-A4C4-5CE2-23D6-3927424BD370}"/>
              </a:ext>
            </a:extLst>
          </p:cNvPr>
          <p:cNvSpPr txBox="1"/>
          <p:nvPr/>
        </p:nvSpPr>
        <p:spPr>
          <a:xfrm>
            <a:off x="473405" y="4481070"/>
            <a:ext cx="11245185" cy="523220"/>
          </a:xfrm>
          <a:prstGeom prst="rect">
            <a:avLst/>
          </a:prstGeom>
          <a:noFill/>
        </p:spPr>
        <p:txBody>
          <a:bodyPr wrap="square" rtlCol="0">
            <a:spAutoFit/>
          </a:bodyPr>
          <a:lstStyle/>
          <a:p>
            <a:r>
              <a:rPr lang="en-US" sz="1400" b="1"/>
              <a:t>Engagement and Optimization Team</a:t>
            </a:r>
            <a:r>
              <a:rPr lang="en-US" sz="1400"/>
              <a:t> A UCM team focused on measurement. They establish and maintain multi-channel dashboards and add college-specific and dean-specific metrics to track how content is performing over time.</a:t>
            </a:r>
            <a:endParaRPr lang="en-US" sz="1400" b="1"/>
          </a:p>
        </p:txBody>
      </p:sp>
      <p:sp>
        <p:nvSpPr>
          <p:cNvPr id="8" name="TextBox 7">
            <a:extLst>
              <a:ext uri="{FF2B5EF4-FFF2-40B4-BE49-F238E27FC236}">
                <a16:creationId xmlns:a16="http://schemas.microsoft.com/office/drawing/2014/main" id="{A2649388-5FEA-A80D-1A74-E0C40BD7FADA}"/>
              </a:ext>
            </a:extLst>
          </p:cNvPr>
          <p:cNvSpPr txBox="1"/>
          <p:nvPr/>
        </p:nvSpPr>
        <p:spPr>
          <a:xfrm>
            <a:off x="473405" y="5106483"/>
            <a:ext cx="11245185" cy="954107"/>
          </a:xfrm>
          <a:prstGeom prst="rect">
            <a:avLst/>
          </a:prstGeom>
          <a:noFill/>
        </p:spPr>
        <p:txBody>
          <a:bodyPr wrap="square" rtlCol="0">
            <a:spAutoFit/>
          </a:bodyPr>
          <a:lstStyle/>
          <a:p>
            <a:r>
              <a:rPr lang="en-US" sz="1400" b="1"/>
              <a:t>Roadmap / Discussion Framework</a:t>
            </a:r>
            <a:r>
              <a:rPr lang="en-US" sz="1400"/>
              <a:t> (also called the GKR Tool) UCM's internal five-step planning tool used to guide theme and hub group meetings toward a strategic content plan. It combines a facilitator-facing Word document (tips, prompts, common pitfalls for each step) with a slide-based worksheet for the group (questions displayed on screen with input fields and agreement gates before moving to the next step). The five steps move from establishing context and constraints through defining goals, audiences, strategy, and execution. It is an internal guide, not handed off to colleges.</a:t>
            </a:r>
            <a:endParaRPr lang="en-US" sz="1400" b="1"/>
          </a:p>
        </p:txBody>
      </p:sp>
    </p:spTree>
    <p:extLst>
      <p:ext uri="{BB962C8B-B14F-4D97-AF65-F5344CB8AC3E}">
        <p14:creationId xmlns:p14="http://schemas.microsoft.com/office/powerpoint/2010/main" val="35722737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EC1F0E-7E89-56B7-5FA8-139FB0F9E91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0E77C57-E50F-FD53-98ED-C5C193BF24A4}"/>
              </a:ext>
            </a:extLst>
          </p:cNvPr>
          <p:cNvSpPr txBox="1"/>
          <p:nvPr/>
        </p:nvSpPr>
        <p:spPr>
          <a:xfrm>
            <a:off x="526211" y="362309"/>
            <a:ext cx="1581843" cy="461665"/>
          </a:xfrm>
          <a:prstGeom prst="rect">
            <a:avLst/>
          </a:prstGeom>
          <a:noFill/>
        </p:spPr>
        <p:txBody>
          <a:bodyPr wrap="none" rtlCol="0">
            <a:spAutoFit/>
          </a:bodyPr>
          <a:lstStyle/>
          <a:p>
            <a:r>
              <a:rPr lang="en-US" sz="2400" b="1"/>
              <a:t>Definitions</a:t>
            </a:r>
          </a:p>
        </p:txBody>
      </p:sp>
    </p:spTree>
    <p:extLst>
      <p:ext uri="{BB962C8B-B14F-4D97-AF65-F5344CB8AC3E}">
        <p14:creationId xmlns:p14="http://schemas.microsoft.com/office/powerpoint/2010/main" val="396689149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3</Slides>
  <Notes>1</Notes>
  <HiddenSlides>0</HiddenSlides>
  <ScaleCrop>false</ScaleCrop>
  <HeadingPairs>
    <vt:vector size="4" baseType="variant">
      <vt:variant>
        <vt:lpstr>Theme</vt:lpstr>
      </vt:variant>
      <vt:variant>
        <vt:i4>1</vt:i4>
      </vt:variant>
      <vt:variant>
        <vt:lpstr>Slide Titles</vt:lpstr>
      </vt:variant>
      <vt:variant>
        <vt:i4>3</vt:i4>
      </vt:variant>
    </vt:vector>
  </HeadingPairs>
  <TitlesOfParts>
    <vt:vector size="4" baseType="lpstr">
      <vt:lpstr>Office Theme</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revision>1</cp:revision>
  <dcterms:created xsi:type="dcterms:W3CDTF">2026-04-07T21:29:46Z</dcterms:created>
  <dcterms:modified xsi:type="dcterms:W3CDTF">2026-04-09T15:00:50Z</dcterms:modified>
</cp:coreProperties>
</file>